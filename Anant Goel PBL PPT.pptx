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6" r:id="rId11"/>
    <p:sldId id="269" r:id="rId12"/>
    <p:sldId id="270" r:id="rId13"/>
    <p:sldId id="271" r:id="rId14"/>
    <p:sldId id="264" r:id="rId15"/>
    <p:sldId id="265" r:id="rId16"/>
    <p:sldId id="273" r:id="rId17"/>
    <p:sldId id="274" r:id="rId18"/>
    <p:sldId id="267" r:id="rId19"/>
    <p:sldId id="268" r:id="rId20"/>
  </p:sldIdLst>
  <p:sldSz cx="12192000" cy="6858000"/>
  <p:notesSz cx="12192000" cy="6858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85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79"/>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399"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6000" b="0" i="0">
                <a:solidFill>
                  <a:schemeClr val="tx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79"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8464" y="717881"/>
            <a:ext cx="10355070" cy="1433195"/>
          </a:xfrm>
          <a:prstGeom prst="rect">
            <a:avLst/>
          </a:prstGeom>
        </p:spPr>
        <p:txBody>
          <a:bodyPr wrap="square" lIns="0" tIns="0" rIns="0" bIns="0">
            <a:spAutoFit/>
          </a:bodyPr>
          <a:lstStyle>
            <a:lvl1pPr>
              <a:defRPr sz="44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2423284" y="3137050"/>
            <a:ext cx="7345430" cy="1697354"/>
          </a:xfrm>
          <a:prstGeom prst="rect">
            <a:avLst/>
          </a:prstGeom>
        </p:spPr>
        <p:txBody>
          <a:bodyPr wrap="square" lIns="0" tIns="0" rIns="0" bIns="0">
            <a:spAutoFit/>
          </a:bodyPr>
          <a:lstStyle>
            <a:lvl1pPr>
              <a:defRPr sz="6000" b="0" i="0">
                <a:solidFill>
                  <a:schemeClr val="tx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4145280" y="6377940"/>
            <a:ext cx="3901439"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19375" y="1443990"/>
            <a:ext cx="6978015" cy="1984375"/>
          </a:xfrm>
          <a:prstGeom prst="rect">
            <a:avLst/>
          </a:prstGeom>
        </p:spPr>
        <p:txBody>
          <a:bodyPr vert="horz" wrap="square" lIns="0" tIns="0" rIns="0" bIns="0" rtlCol="0">
            <a:noAutofit/>
          </a:bodyPr>
          <a:lstStyle/>
          <a:p>
            <a:pPr marL="12700" marR="5080" indent="290830">
              <a:lnSpc>
                <a:spcPct val="130000"/>
              </a:lnSpc>
            </a:pPr>
            <a:r>
              <a:rPr sz="2600" b="1" spc="-85" dirty="0">
                <a:latin typeface="Trebuchet MS" panose="020B0603020202020204"/>
                <a:cs typeface="Trebuchet MS" panose="020B0603020202020204"/>
              </a:rPr>
              <a:t>S</a:t>
            </a:r>
            <a:r>
              <a:rPr sz="2600" b="1" spc="-90" dirty="0">
                <a:latin typeface="Trebuchet MS" panose="020B0603020202020204"/>
                <a:cs typeface="Trebuchet MS" panose="020B0603020202020204"/>
              </a:rPr>
              <a:t>c</a:t>
            </a:r>
            <a:r>
              <a:rPr sz="2600" b="1" spc="-85" dirty="0">
                <a:latin typeface="Trebuchet MS" panose="020B0603020202020204"/>
                <a:cs typeface="Trebuchet MS" panose="020B0603020202020204"/>
              </a:rPr>
              <a:t>hoo</a:t>
            </a:r>
            <a:r>
              <a:rPr sz="2600" b="1" dirty="0">
                <a:latin typeface="Trebuchet MS" panose="020B0603020202020204"/>
                <a:cs typeface="Trebuchet MS" panose="020B0603020202020204"/>
              </a:rPr>
              <a:t>l</a:t>
            </a:r>
            <a:r>
              <a:rPr sz="2600" b="1" spc="-240" dirty="0">
                <a:latin typeface="Times New Roman" panose="02020603050405020304"/>
                <a:cs typeface="Times New Roman" panose="02020603050405020304"/>
              </a:rPr>
              <a:t> </a:t>
            </a:r>
            <a:r>
              <a:rPr sz="2600" b="1" spc="-85" dirty="0">
                <a:latin typeface="Trebuchet MS" panose="020B0603020202020204"/>
                <a:cs typeface="Trebuchet MS" panose="020B0603020202020204"/>
              </a:rPr>
              <a:t>o</a:t>
            </a:r>
            <a:r>
              <a:rPr sz="2600" b="1" dirty="0">
                <a:latin typeface="Trebuchet MS" panose="020B0603020202020204"/>
                <a:cs typeface="Trebuchet MS" panose="020B0603020202020204"/>
              </a:rPr>
              <a:t>f</a:t>
            </a:r>
            <a:r>
              <a:rPr sz="2600" b="1" spc="-200" dirty="0">
                <a:latin typeface="Times New Roman" panose="02020603050405020304"/>
                <a:cs typeface="Times New Roman" panose="02020603050405020304"/>
              </a:rPr>
              <a:t> </a:t>
            </a:r>
            <a:r>
              <a:rPr sz="2600" b="1" spc="-70" dirty="0">
                <a:latin typeface="Trebuchet MS" panose="020B0603020202020204"/>
                <a:cs typeface="Trebuchet MS" panose="020B0603020202020204"/>
              </a:rPr>
              <a:t>C</a:t>
            </a:r>
            <a:r>
              <a:rPr sz="2600" b="1" spc="-85" dirty="0">
                <a:latin typeface="Trebuchet MS" panose="020B0603020202020204"/>
                <a:cs typeface="Trebuchet MS" panose="020B0603020202020204"/>
              </a:rPr>
              <a:t>o</a:t>
            </a:r>
            <a:r>
              <a:rPr sz="2600" b="1" spc="-80" dirty="0">
                <a:latin typeface="Trebuchet MS" panose="020B0603020202020204"/>
                <a:cs typeface="Trebuchet MS" panose="020B0603020202020204"/>
              </a:rPr>
              <a:t>m</a:t>
            </a:r>
            <a:r>
              <a:rPr sz="2600" b="1" spc="-90" dirty="0">
                <a:latin typeface="Trebuchet MS" panose="020B0603020202020204"/>
                <a:cs typeface="Trebuchet MS" panose="020B0603020202020204"/>
              </a:rPr>
              <a:t>pu</a:t>
            </a:r>
            <a:r>
              <a:rPr sz="2600" b="1" spc="-85" dirty="0">
                <a:latin typeface="Trebuchet MS" panose="020B0603020202020204"/>
                <a:cs typeface="Trebuchet MS" panose="020B0603020202020204"/>
              </a:rPr>
              <a:t>t</a:t>
            </a:r>
            <a:r>
              <a:rPr sz="2600" b="1" spc="-80" dirty="0">
                <a:latin typeface="Trebuchet MS" panose="020B0603020202020204"/>
                <a:cs typeface="Trebuchet MS" panose="020B0603020202020204"/>
              </a:rPr>
              <a:t>e</a:t>
            </a:r>
            <a:r>
              <a:rPr sz="2600" b="1" dirty="0">
                <a:latin typeface="Trebuchet MS" panose="020B0603020202020204"/>
                <a:cs typeface="Trebuchet MS" panose="020B0603020202020204"/>
              </a:rPr>
              <a:t>r</a:t>
            </a:r>
            <a:r>
              <a:rPr sz="2600" b="1" spc="-180" dirty="0">
                <a:latin typeface="Times New Roman" panose="02020603050405020304"/>
                <a:cs typeface="Times New Roman" panose="02020603050405020304"/>
              </a:rPr>
              <a:t> </a:t>
            </a:r>
            <a:r>
              <a:rPr sz="2600" b="1" spc="-75" dirty="0">
                <a:latin typeface="Trebuchet MS" panose="020B0603020202020204"/>
                <a:cs typeface="Trebuchet MS" panose="020B0603020202020204"/>
              </a:rPr>
              <a:t>S</a:t>
            </a:r>
            <a:r>
              <a:rPr sz="2600" b="1" spc="-90" dirty="0">
                <a:latin typeface="Trebuchet MS" panose="020B0603020202020204"/>
                <a:cs typeface="Trebuchet MS" panose="020B0603020202020204"/>
              </a:rPr>
              <a:t>c</a:t>
            </a:r>
            <a:r>
              <a:rPr sz="2600" b="1" spc="-85" dirty="0">
                <a:latin typeface="Trebuchet MS" panose="020B0603020202020204"/>
                <a:cs typeface="Trebuchet MS" panose="020B0603020202020204"/>
              </a:rPr>
              <a:t>i</a:t>
            </a:r>
            <a:r>
              <a:rPr sz="2600" b="1" spc="-80" dirty="0">
                <a:latin typeface="Trebuchet MS" panose="020B0603020202020204"/>
                <a:cs typeface="Trebuchet MS" panose="020B0603020202020204"/>
              </a:rPr>
              <a:t>e</a:t>
            </a:r>
            <a:r>
              <a:rPr sz="2600" b="1" spc="-85" dirty="0">
                <a:latin typeface="Trebuchet MS" panose="020B0603020202020204"/>
                <a:cs typeface="Trebuchet MS" panose="020B0603020202020204"/>
              </a:rPr>
              <a:t>n</a:t>
            </a:r>
            <a:r>
              <a:rPr sz="2600" b="1" spc="-90" dirty="0">
                <a:latin typeface="Trebuchet MS" panose="020B0603020202020204"/>
                <a:cs typeface="Trebuchet MS" panose="020B0603020202020204"/>
              </a:rPr>
              <a:t>c</a:t>
            </a:r>
            <a:r>
              <a:rPr sz="2600" b="1" dirty="0">
                <a:latin typeface="Trebuchet MS" panose="020B0603020202020204"/>
                <a:cs typeface="Trebuchet MS" panose="020B0603020202020204"/>
              </a:rPr>
              <a:t>e</a:t>
            </a:r>
            <a:r>
              <a:rPr sz="2600" b="1" spc="-265" dirty="0">
                <a:latin typeface="Times New Roman" panose="02020603050405020304"/>
                <a:cs typeface="Times New Roman" panose="02020603050405020304"/>
              </a:rPr>
              <a:t> </a:t>
            </a:r>
            <a:r>
              <a:rPr sz="2600" b="1" spc="-80" dirty="0">
                <a:latin typeface="Trebuchet MS" panose="020B0603020202020204"/>
                <a:cs typeface="Trebuchet MS" panose="020B0603020202020204"/>
              </a:rPr>
              <a:t>a</a:t>
            </a:r>
            <a:r>
              <a:rPr sz="2600" b="1" spc="-85" dirty="0">
                <a:latin typeface="Trebuchet MS" panose="020B0603020202020204"/>
                <a:cs typeface="Trebuchet MS" panose="020B0603020202020204"/>
              </a:rPr>
              <a:t>n</a:t>
            </a:r>
            <a:r>
              <a:rPr sz="2600" b="1" dirty="0">
                <a:latin typeface="Trebuchet MS" panose="020B0603020202020204"/>
                <a:cs typeface="Trebuchet MS" panose="020B0603020202020204"/>
              </a:rPr>
              <a:t>d</a:t>
            </a:r>
            <a:r>
              <a:rPr sz="2600" b="1" spc="-170" dirty="0">
                <a:latin typeface="Times New Roman" panose="02020603050405020304"/>
                <a:cs typeface="Times New Roman" panose="02020603050405020304"/>
              </a:rPr>
              <a:t> </a:t>
            </a:r>
            <a:r>
              <a:rPr sz="2600" b="1" spc="-90" dirty="0">
                <a:latin typeface="Trebuchet MS" panose="020B0603020202020204"/>
                <a:cs typeface="Trebuchet MS" panose="020B0603020202020204"/>
              </a:rPr>
              <a:t>E</a:t>
            </a:r>
            <a:r>
              <a:rPr sz="2600" b="1" spc="-85" dirty="0">
                <a:latin typeface="Trebuchet MS" panose="020B0603020202020204"/>
                <a:cs typeface="Trebuchet MS" panose="020B0603020202020204"/>
              </a:rPr>
              <a:t>ng</a:t>
            </a:r>
            <a:r>
              <a:rPr sz="2600" b="1" spc="-70" dirty="0">
                <a:latin typeface="Trebuchet MS" panose="020B0603020202020204"/>
                <a:cs typeface="Trebuchet MS" panose="020B0603020202020204"/>
              </a:rPr>
              <a:t>i</a:t>
            </a:r>
            <a:r>
              <a:rPr sz="2600" b="1" spc="-85" dirty="0">
                <a:latin typeface="Trebuchet MS" panose="020B0603020202020204"/>
                <a:cs typeface="Trebuchet MS" panose="020B0603020202020204"/>
              </a:rPr>
              <a:t>n</a:t>
            </a:r>
            <a:r>
              <a:rPr sz="2600" b="1" spc="-80" dirty="0">
                <a:latin typeface="Trebuchet MS" panose="020B0603020202020204"/>
                <a:cs typeface="Trebuchet MS" panose="020B0603020202020204"/>
              </a:rPr>
              <a:t>ee</a:t>
            </a:r>
            <a:r>
              <a:rPr sz="2600" b="1" spc="-85" dirty="0">
                <a:latin typeface="Trebuchet MS" panose="020B0603020202020204"/>
                <a:cs typeface="Trebuchet MS" panose="020B0603020202020204"/>
              </a:rPr>
              <a:t>rin</a:t>
            </a:r>
            <a:r>
              <a:rPr sz="2600" b="1" dirty="0">
                <a:latin typeface="Trebuchet MS" panose="020B0603020202020204"/>
                <a:cs typeface="Trebuchet MS" panose="020B0603020202020204"/>
              </a:rPr>
              <a:t>g</a:t>
            </a:r>
            <a:r>
              <a:rPr sz="2600" b="1" dirty="0">
                <a:latin typeface="Times New Roman" panose="02020603050405020304"/>
                <a:cs typeface="Times New Roman" panose="02020603050405020304"/>
              </a:rPr>
              <a:t> </a:t>
            </a:r>
            <a:r>
              <a:rPr sz="2600" b="1" spc="-195" dirty="0">
                <a:latin typeface="Trebuchet MS" panose="020B0603020202020204"/>
                <a:cs typeface="Trebuchet MS" panose="020B0603020202020204"/>
              </a:rPr>
              <a:t>D</a:t>
            </a:r>
            <a:r>
              <a:rPr sz="2600" b="1" spc="-150" dirty="0">
                <a:latin typeface="Trebuchet MS" panose="020B0603020202020204"/>
                <a:cs typeface="Trebuchet MS" panose="020B0603020202020204"/>
              </a:rPr>
              <a:t>e</a:t>
            </a:r>
            <a:r>
              <a:rPr sz="2600" b="1" spc="-170" dirty="0">
                <a:latin typeface="Trebuchet MS" panose="020B0603020202020204"/>
                <a:cs typeface="Trebuchet MS" panose="020B0603020202020204"/>
              </a:rPr>
              <a:t>p</a:t>
            </a:r>
            <a:r>
              <a:rPr sz="2600" b="1" spc="-150" dirty="0">
                <a:latin typeface="Trebuchet MS" panose="020B0603020202020204"/>
                <a:cs typeface="Trebuchet MS" panose="020B0603020202020204"/>
              </a:rPr>
              <a:t>a</a:t>
            </a:r>
            <a:r>
              <a:rPr sz="2600" b="1" spc="-114" dirty="0">
                <a:latin typeface="Trebuchet MS" panose="020B0603020202020204"/>
                <a:cs typeface="Trebuchet MS" panose="020B0603020202020204"/>
              </a:rPr>
              <a:t>r</a:t>
            </a:r>
            <a:r>
              <a:rPr sz="2600" b="1" spc="-120" dirty="0">
                <a:latin typeface="Trebuchet MS" panose="020B0603020202020204"/>
                <a:cs typeface="Trebuchet MS" panose="020B0603020202020204"/>
              </a:rPr>
              <a:t>t</a:t>
            </a:r>
            <a:r>
              <a:rPr sz="2600" b="1" spc="-245" dirty="0">
                <a:latin typeface="Trebuchet MS" panose="020B0603020202020204"/>
                <a:cs typeface="Trebuchet MS" panose="020B0603020202020204"/>
              </a:rPr>
              <a:t>m</a:t>
            </a:r>
            <a:r>
              <a:rPr sz="2600" b="1" spc="-150" dirty="0">
                <a:latin typeface="Trebuchet MS" panose="020B0603020202020204"/>
                <a:cs typeface="Trebuchet MS" panose="020B0603020202020204"/>
              </a:rPr>
              <a:t>e</a:t>
            </a:r>
            <a:r>
              <a:rPr sz="2600" b="1" spc="-145" dirty="0">
                <a:latin typeface="Trebuchet MS" panose="020B0603020202020204"/>
                <a:cs typeface="Trebuchet MS" panose="020B0603020202020204"/>
              </a:rPr>
              <a:t>nt</a:t>
            </a:r>
            <a:r>
              <a:rPr sz="2600" b="1" spc="60" dirty="0">
                <a:latin typeface="Times New Roman" panose="02020603050405020304"/>
                <a:cs typeface="Times New Roman" panose="02020603050405020304"/>
              </a:rPr>
              <a:t> </a:t>
            </a:r>
            <a:r>
              <a:rPr sz="2600" b="1" spc="-155" dirty="0">
                <a:latin typeface="Trebuchet MS" panose="020B0603020202020204"/>
                <a:cs typeface="Trebuchet MS" panose="020B0603020202020204"/>
              </a:rPr>
              <a:t>o</a:t>
            </a:r>
            <a:r>
              <a:rPr sz="2600" b="1" spc="-110" dirty="0">
                <a:latin typeface="Trebuchet MS" panose="020B0603020202020204"/>
                <a:cs typeface="Trebuchet MS" panose="020B0603020202020204"/>
              </a:rPr>
              <a:t>f</a:t>
            </a:r>
            <a:r>
              <a:rPr sz="2600" b="1" spc="50" dirty="0">
                <a:latin typeface="Times New Roman" panose="02020603050405020304"/>
                <a:cs typeface="Times New Roman" panose="02020603050405020304"/>
              </a:rPr>
              <a:t> </a:t>
            </a:r>
            <a:r>
              <a:rPr sz="2600" b="1" spc="-175" dirty="0">
                <a:latin typeface="Trebuchet MS" panose="020B0603020202020204"/>
                <a:cs typeface="Trebuchet MS" panose="020B0603020202020204"/>
              </a:rPr>
              <a:t>C</a:t>
            </a:r>
            <a:r>
              <a:rPr sz="2600" b="1" spc="-190" dirty="0">
                <a:latin typeface="Trebuchet MS" panose="020B0603020202020204"/>
                <a:cs typeface="Trebuchet MS" panose="020B0603020202020204"/>
              </a:rPr>
              <a:t>om</a:t>
            </a:r>
            <a:r>
              <a:rPr sz="2600" b="1" spc="-160" dirty="0">
                <a:latin typeface="Trebuchet MS" panose="020B0603020202020204"/>
                <a:cs typeface="Trebuchet MS" panose="020B0603020202020204"/>
              </a:rPr>
              <a:t>p</a:t>
            </a:r>
            <a:r>
              <a:rPr sz="2600" b="1" spc="-170" dirty="0">
                <a:latin typeface="Trebuchet MS" panose="020B0603020202020204"/>
                <a:cs typeface="Trebuchet MS" panose="020B0603020202020204"/>
              </a:rPr>
              <a:t>u</a:t>
            </a:r>
            <a:r>
              <a:rPr sz="2600" b="1" spc="-110" dirty="0">
                <a:latin typeface="Trebuchet MS" panose="020B0603020202020204"/>
                <a:cs typeface="Trebuchet MS" panose="020B0603020202020204"/>
              </a:rPr>
              <a:t>t</a:t>
            </a:r>
            <a:r>
              <a:rPr sz="2600" b="1" spc="-145" dirty="0">
                <a:latin typeface="Trebuchet MS" panose="020B0603020202020204"/>
                <a:cs typeface="Trebuchet MS" panose="020B0603020202020204"/>
              </a:rPr>
              <a:t>er</a:t>
            </a:r>
            <a:r>
              <a:rPr sz="2600" b="1" spc="60" dirty="0">
                <a:latin typeface="Times New Roman" panose="02020603050405020304"/>
                <a:cs typeface="Times New Roman" panose="02020603050405020304"/>
              </a:rPr>
              <a:t> </a:t>
            </a:r>
            <a:r>
              <a:rPr sz="2600" b="1" spc="-145" dirty="0">
                <a:latin typeface="Trebuchet MS" panose="020B0603020202020204"/>
                <a:cs typeface="Trebuchet MS" panose="020B0603020202020204"/>
              </a:rPr>
              <a:t>S</a:t>
            </a:r>
            <a:r>
              <a:rPr sz="2600" b="1" spc="-120" dirty="0">
                <a:latin typeface="Trebuchet MS" panose="020B0603020202020204"/>
                <a:cs typeface="Trebuchet MS" panose="020B0603020202020204"/>
              </a:rPr>
              <a:t>ci</a:t>
            </a:r>
            <a:r>
              <a:rPr sz="2600" b="1" spc="-150" dirty="0">
                <a:latin typeface="Trebuchet MS" panose="020B0603020202020204"/>
                <a:cs typeface="Trebuchet MS" panose="020B0603020202020204"/>
              </a:rPr>
              <a:t>e</a:t>
            </a:r>
            <a:r>
              <a:rPr sz="2600" b="1" spc="-170" dirty="0">
                <a:latin typeface="Trebuchet MS" panose="020B0603020202020204"/>
                <a:cs typeface="Trebuchet MS" panose="020B0603020202020204"/>
              </a:rPr>
              <a:t>n</a:t>
            </a:r>
            <a:r>
              <a:rPr sz="2600" b="1" spc="-145" dirty="0">
                <a:latin typeface="Trebuchet MS" panose="020B0603020202020204"/>
                <a:cs typeface="Trebuchet MS" panose="020B0603020202020204"/>
              </a:rPr>
              <a:t>c</a:t>
            </a:r>
            <a:r>
              <a:rPr sz="2600" b="1" spc="-165" dirty="0">
                <a:latin typeface="Trebuchet MS" panose="020B0603020202020204"/>
                <a:cs typeface="Trebuchet MS" panose="020B0603020202020204"/>
              </a:rPr>
              <a:t>e</a:t>
            </a:r>
            <a:r>
              <a:rPr sz="2600" b="1" spc="45" dirty="0">
                <a:latin typeface="Times New Roman" panose="02020603050405020304"/>
                <a:cs typeface="Times New Roman" panose="02020603050405020304"/>
              </a:rPr>
              <a:t> </a:t>
            </a:r>
            <a:r>
              <a:rPr sz="2600" b="1" spc="-150" dirty="0">
                <a:latin typeface="Trebuchet MS" panose="020B0603020202020204"/>
                <a:cs typeface="Trebuchet MS" panose="020B0603020202020204"/>
              </a:rPr>
              <a:t>a</a:t>
            </a:r>
            <a:r>
              <a:rPr sz="2600" b="1" spc="-170" dirty="0">
                <a:latin typeface="Trebuchet MS" panose="020B0603020202020204"/>
                <a:cs typeface="Trebuchet MS" panose="020B0603020202020204"/>
              </a:rPr>
              <a:t>nd</a:t>
            </a:r>
            <a:r>
              <a:rPr sz="2600" b="1" spc="60" dirty="0">
                <a:latin typeface="Times New Roman" panose="02020603050405020304"/>
                <a:cs typeface="Times New Roman" panose="02020603050405020304"/>
              </a:rPr>
              <a:t> </a:t>
            </a:r>
            <a:r>
              <a:rPr sz="2600" b="1" spc="-160" dirty="0">
                <a:latin typeface="Trebuchet MS" panose="020B0603020202020204"/>
                <a:cs typeface="Trebuchet MS" panose="020B0603020202020204"/>
              </a:rPr>
              <a:t>E</a:t>
            </a:r>
            <a:r>
              <a:rPr sz="2600" b="1" spc="-170" dirty="0">
                <a:latin typeface="Trebuchet MS" panose="020B0603020202020204"/>
                <a:cs typeface="Trebuchet MS" panose="020B0603020202020204"/>
              </a:rPr>
              <a:t>n</a:t>
            </a:r>
            <a:r>
              <a:rPr sz="2600" b="1" spc="-140" dirty="0">
                <a:latin typeface="Trebuchet MS" panose="020B0603020202020204"/>
                <a:cs typeface="Trebuchet MS" panose="020B0603020202020204"/>
              </a:rPr>
              <a:t>g</a:t>
            </a:r>
            <a:r>
              <a:rPr sz="2600" b="1" spc="-80" dirty="0">
                <a:latin typeface="Trebuchet MS" panose="020B0603020202020204"/>
                <a:cs typeface="Trebuchet MS" panose="020B0603020202020204"/>
              </a:rPr>
              <a:t>i</a:t>
            </a:r>
            <a:r>
              <a:rPr sz="2600" b="1" spc="-175" dirty="0">
                <a:latin typeface="Trebuchet MS" panose="020B0603020202020204"/>
                <a:cs typeface="Trebuchet MS" panose="020B0603020202020204"/>
              </a:rPr>
              <a:t>ne</a:t>
            </a:r>
            <a:r>
              <a:rPr sz="2600" b="1" spc="-145" dirty="0">
                <a:latin typeface="Trebuchet MS" panose="020B0603020202020204"/>
                <a:cs typeface="Trebuchet MS" panose="020B0603020202020204"/>
              </a:rPr>
              <a:t>e</a:t>
            </a:r>
            <a:r>
              <a:rPr sz="2600" b="1" spc="-130" dirty="0">
                <a:latin typeface="Trebuchet MS" panose="020B0603020202020204"/>
                <a:cs typeface="Trebuchet MS" panose="020B0603020202020204"/>
              </a:rPr>
              <a:t>r</a:t>
            </a:r>
            <a:r>
              <a:rPr sz="2600" b="1" spc="-75" dirty="0">
                <a:latin typeface="Trebuchet MS" panose="020B0603020202020204"/>
                <a:cs typeface="Trebuchet MS" panose="020B0603020202020204"/>
              </a:rPr>
              <a:t>i</a:t>
            </a:r>
            <a:r>
              <a:rPr sz="2600" b="1" spc="-160" dirty="0">
                <a:latin typeface="Trebuchet MS" panose="020B0603020202020204"/>
                <a:cs typeface="Trebuchet MS" panose="020B0603020202020204"/>
              </a:rPr>
              <a:t>ng</a:t>
            </a:r>
            <a:endParaRPr sz="2600" b="1" spc="-160" dirty="0">
              <a:latin typeface="Trebuchet MS" panose="020B0603020202020204"/>
              <a:cs typeface="Trebuchet MS" panose="020B0603020202020204"/>
            </a:endParaRPr>
          </a:p>
          <a:p>
            <a:pPr marL="12700" marR="5080" indent="290830">
              <a:lnSpc>
                <a:spcPct val="130000"/>
              </a:lnSpc>
            </a:pPr>
            <a:endParaRPr sz="2600">
              <a:latin typeface="Trebuchet MS" panose="020B0603020202020204"/>
              <a:cs typeface="Trebuchet MS" panose="020B0603020202020204"/>
            </a:endParaRPr>
          </a:p>
          <a:p>
            <a:pPr marL="12700" marR="5080" indent="290830">
              <a:lnSpc>
                <a:spcPct val="130000"/>
              </a:lnSpc>
            </a:pPr>
            <a:endParaRPr lang="en-US" sz="2600" b="1">
              <a:latin typeface="Trebuchet MS" panose="020B0603020202020204"/>
              <a:cs typeface="Trebuchet MS" panose="020B0603020202020204"/>
            </a:endParaRPr>
          </a:p>
          <a:p>
            <a:pPr marL="12700" marR="5080" indent="290830">
              <a:lnSpc>
                <a:spcPct val="130000"/>
              </a:lnSpc>
            </a:pPr>
            <a:r>
              <a:rPr lang="en-US" sz="2600" b="1">
                <a:latin typeface="Trebuchet MS" panose="020B0603020202020204"/>
                <a:cs typeface="Trebuchet MS" panose="020B0603020202020204"/>
              </a:rPr>
              <a:t>AI Powered Smart Library System-A semantic search and recommendation framework</a:t>
            </a:r>
            <a:endParaRPr lang="en-US" sz="2600" b="1">
              <a:latin typeface="Trebuchet MS" panose="020B0603020202020204"/>
              <a:cs typeface="Trebuchet MS" panose="020B0603020202020204"/>
            </a:endParaRPr>
          </a:p>
        </p:txBody>
      </p:sp>
      <p:sp>
        <p:nvSpPr>
          <p:cNvPr id="5" name="object 5"/>
          <p:cNvSpPr txBox="1"/>
          <p:nvPr/>
        </p:nvSpPr>
        <p:spPr>
          <a:xfrm>
            <a:off x="1484118" y="5297602"/>
            <a:ext cx="3697481" cy="718145"/>
          </a:xfrm>
          <a:prstGeom prst="rect">
            <a:avLst/>
          </a:prstGeom>
        </p:spPr>
        <p:txBody>
          <a:bodyPr vert="horz" wrap="square" lIns="0" tIns="0" rIns="0" bIns="0" rtlCol="0">
            <a:spAutoFit/>
          </a:bodyPr>
          <a:lstStyle/>
          <a:p>
            <a:pPr marL="12700">
              <a:lnSpc>
                <a:spcPts val="2770"/>
              </a:lnSpc>
            </a:pPr>
            <a:r>
              <a:rPr sz="2400" spc="-70" dirty="0">
                <a:latin typeface="Trebuchet MS" panose="020B0603020202020204"/>
                <a:cs typeface="Trebuchet MS" panose="020B0603020202020204"/>
              </a:rPr>
              <a:t>S</a:t>
            </a:r>
            <a:r>
              <a:rPr sz="2400" spc="-40" dirty="0">
                <a:latin typeface="Trebuchet MS" panose="020B0603020202020204"/>
                <a:cs typeface="Trebuchet MS" panose="020B0603020202020204"/>
              </a:rPr>
              <a:t>u</a:t>
            </a:r>
            <a:r>
              <a:rPr sz="2400" spc="-55" dirty="0">
                <a:latin typeface="Trebuchet MS" panose="020B0603020202020204"/>
                <a:cs typeface="Trebuchet MS" panose="020B0603020202020204"/>
              </a:rPr>
              <a:t>b</a:t>
            </a:r>
            <a:r>
              <a:rPr sz="2400" spc="-50" dirty="0">
                <a:latin typeface="Trebuchet MS" panose="020B0603020202020204"/>
                <a:cs typeface="Trebuchet MS" panose="020B0603020202020204"/>
              </a:rPr>
              <a:t>m</a:t>
            </a:r>
            <a:r>
              <a:rPr sz="2400" spc="-40" dirty="0">
                <a:latin typeface="Trebuchet MS" panose="020B0603020202020204"/>
                <a:cs typeface="Trebuchet MS" panose="020B0603020202020204"/>
              </a:rPr>
              <a:t>i</a:t>
            </a:r>
            <a:r>
              <a:rPr sz="2400" spc="-55" dirty="0">
                <a:latin typeface="Trebuchet MS" panose="020B0603020202020204"/>
                <a:cs typeface="Trebuchet MS" panose="020B0603020202020204"/>
              </a:rPr>
              <a:t>t</a:t>
            </a:r>
            <a:r>
              <a:rPr sz="2400" spc="-40" dirty="0">
                <a:latin typeface="Trebuchet MS" panose="020B0603020202020204"/>
                <a:cs typeface="Trebuchet MS" panose="020B0603020202020204"/>
              </a:rPr>
              <a:t>t</a:t>
            </a:r>
            <a:r>
              <a:rPr sz="2400" spc="-50" dirty="0">
                <a:latin typeface="Trebuchet MS" panose="020B0603020202020204"/>
                <a:cs typeface="Trebuchet MS" panose="020B0603020202020204"/>
              </a:rPr>
              <a:t>e</a:t>
            </a:r>
            <a:r>
              <a:rPr sz="2400" dirty="0">
                <a:latin typeface="Trebuchet MS" panose="020B0603020202020204"/>
                <a:cs typeface="Trebuchet MS" panose="020B0603020202020204"/>
              </a:rPr>
              <a:t>d</a:t>
            </a:r>
            <a:r>
              <a:rPr sz="2400" spc="-30" dirty="0">
                <a:latin typeface="Times New Roman" panose="02020603050405020304"/>
                <a:cs typeface="Times New Roman" panose="02020603050405020304"/>
              </a:rPr>
              <a:t> </a:t>
            </a:r>
            <a:r>
              <a:rPr sz="2400" spc="-30" dirty="0">
                <a:latin typeface="Trebuchet MS" panose="020B0603020202020204"/>
                <a:cs typeface="Trebuchet MS" panose="020B0603020202020204"/>
              </a:rPr>
              <a:t>b</a:t>
            </a:r>
            <a:r>
              <a:rPr sz="2400" spc="-20" dirty="0">
                <a:latin typeface="Trebuchet MS" panose="020B0603020202020204"/>
                <a:cs typeface="Trebuchet MS" panose="020B0603020202020204"/>
              </a:rPr>
              <a:t>y</a:t>
            </a:r>
            <a:r>
              <a:rPr sz="2400" dirty="0">
                <a:latin typeface="Trebuchet MS" panose="020B0603020202020204"/>
                <a:cs typeface="Trebuchet MS" panose="020B0603020202020204"/>
              </a:rPr>
              <a:t>:</a:t>
            </a:r>
            <a:endParaRPr sz="2400" dirty="0">
              <a:latin typeface="Trebuchet MS" panose="020B0603020202020204"/>
              <a:cs typeface="Trebuchet MS" panose="020B0603020202020204"/>
            </a:endParaRPr>
          </a:p>
          <a:p>
            <a:pPr marL="47625">
              <a:lnSpc>
                <a:spcPts val="2770"/>
              </a:lnSpc>
            </a:pPr>
            <a:r>
              <a:rPr sz="2400" spc="-40" dirty="0">
                <a:latin typeface="Trebuchet MS" panose="020B0603020202020204"/>
                <a:cs typeface="Trebuchet MS" panose="020B0603020202020204"/>
              </a:rPr>
              <a:t>An</a:t>
            </a:r>
            <a:r>
              <a:rPr sz="2400" spc="-25" dirty="0">
                <a:latin typeface="Trebuchet MS" panose="020B0603020202020204"/>
                <a:cs typeface="Trebuchet MS" panose="020B0603020202020204"/>
              </a:rPr>
              <a:t>a</a:t>
            </a:r>
            <a:r>
              <a:rPr sz="2400" spc="-30" dirty="0">
                <a:latin typeface="Trebuchet MS" panose="020B0603020202020204"/>
                <a:cs typeface="Trebuchet MS" panose="020B0603020202020204"/>
              </a:rPr>
              <a:t>n</a:t>
            </a:r>
            <a:r>
              <a:rPr sz="2400" dirty="0">
                <a:latin typeface="Trebuchet MS" panose="020B0603020202020204"/>
                <a:cs typeface="Trebuchet MS" panose="020B0603020202020204"/>
              </a:rPr>
              <a:t>t</a:t>
            </a:r>
            <a:r>
              <a:rPr sz="2400" spc="55" dirty="0">
                <a:latin typeface="Times New Roman" panose="02020603050405020304"/>
                <a:cs typeface="Times New Roman" panose="02020603050405020304"/>
              </a:rPr>
              <a:t> </a:t>
            </a:r>
            <a:r>
              <a:rPr sz="2400" spc="-30" dirty="0">
                <a:latin typeface="Trebuchet MS" panose="020B0603020202020204"/>
                <a:cs typeface="Trebuchet MS" panose="020B0603020202020204"/>
              </a:rPr>
              <a:t>G</a:t>
            </a:r>
            <a:r>
              <a:rPr sz="2400" spc="-45" dirty="0">
                <a:latin typeface="Trebuchet MS" panose="020B0603020202020204"/>
                <a:cs typeface="Trebuchet MS" panose="020B0603020202020204"/>
              </a:rPr>
              <a:t>o</a:t>
            </a:r>
            <a:r>
              <a:rPr sz="2400" spc="-25" dirty="0">
                <a:latin typeface="Trebuchet MS" panose="020B0603020202020204"/>
                <a:cs typeface="Trebuchet MS" panose="020B0603020202020204"/>
              </a:rPr>
              <a:t>e</a:t>
            </a:r>
            <a:r>
              <a:rPr sz="2400" spc="-45" dirty="0">
                <a:latin typeface="Trebuchet MS" panose="020B0603020202020204"/>
                <a:cs typeface="Trebuchet MS" panose="020B0603020202020204"/>
              </a:rPr>
              <a:t>l</a:t>
            </a:r>
            <a:endParaRPr sz="2400" dirty="0">
              <a:latin typeface="Trebuchet MS" panose="020B0603020202020204"/>
              <a:cs typeface="Trebuchet MS" panose="020B0603020202020204"/>
            </a:endParaRPr>
          </a:p>
        </p:txBody>
      </p:sp>
      <p:sp>
        <p:nvSpPr>
          <p:cNvPr id="6" name="object 6"/>
          <p:cNvSpPr txBox="1"/>
          <p:nvPr/>
        </p:nvSpPr>
        <p:spPr>
          <a:xfrm>
            <a:off x="1507614" y="6088458"/>
            <a:ext cx="1854835" cy="369332"/>
          </a:xfrm>
          <a:prstGeom prst="rect">
            <a:avLst/>
          </a:prstGeom>
        </p:spPr>
        <p:txBody>
          <a:bodyPr vert="horz" wrap="square" lIns="0" tIns="0" rIns="0" bIns="0" rtlCol="0">
            <a:spAutoFit/>
          </a:bodyPr>
          <a:lstStyle/>
          <a:p>
            <a:pPr marL="12700">
              <a:lnSpc>
                <a:spcPct val="100000"/>
              </a:lnSpc>
            </a:pPr>
            <a:r>
              <a:rPr sz="2400" spc="-75" dirty="0">
                <a:latin typeface="Trebuchet MS" panose="020B0603020202020204"/>
                <a:cs typeface="Trebuchet MS" panose="020B0603020202020204"/>
              </a:rPr>
              <a:t>2</a:t>
            </a:r>
            <a:r>
              <a:rPr sz="2400" spc="-60" dirty="0">
                <a:latin typeface="Trebuchet MS" panose="020B0603020202020204"/>
                <a:cs typeface="Trebuchet MS" panose="020B0603020202020204"/>
              </a:rPr>
              <a:t>4</a:t>
            </a:r>
            <a:r>
              <a:rPr sz="2400" spc="-75" dirty="0">
                <a:latin typeface="Trebuchet MS" panose="020B0603020202020204"/>
                <a:cs typeface="Trebuchet MS" panose="020B0603020202020204"/>
              </a:rPr>
              <a:t>2</a:t>
            </a:r>
            <a:r>
              <a:rPr sz="2400" spc="-60" dirty="0">
                <a:latin typeface="Trebuchet MS" panose="020B0603020202020204"/>
                <a:cs typeface="Trebuchet MS" panose="020B0603020202020204"/>
              </a:rPr>
              <a:t>7</a:t>
            </a:r>
            <a:r>
              <a:rPr sz="2400" spc="-75" dirty="0">
                <a:latin typeface="Trebuchet MS" panose="020B0603020202020204"/>
                <a:cs typeface="Trebuchet MS" panose="020B0603020202020204"/>
              </a:rPr>
              <a:t>0</a:t>
            </a:r>
            <a:r>
              <a:rPr sz="2400" spc="-60" dirty="0">
                <a:latin typeface="Trebuchet MS" panose="020B0603020202020204"/>
                <a:cs typeface="Trebuchet MS" panose="020B0603020202020204"/>
              </a:rPr>
              <a:t>3</a:t>
            </a:r>
            <a:r>
              <a:rPr sz="2400" spc="-75" dirty="0">
                <a:latin typeface="Trebuchet MS" panose="020B0603020202020204"/>
                <a:cs typeface="Trebuchet MS" panose="020B0603020202020204"/>
              </a:rPr>
              <a:t>0</a:t>
            </a:r>
            <a:r>
              <a:rPr sz="2400" spc="-60" dirty="0">
                <a:latin typeface="Trebuchet MS" panose="020B0603020202020204"/>
                <a:cs typeface="Trebuchet MS" panose="020B0603020202020204"/>
              </a:rPr>
              <a:t>7</a:t>
            </a:r>
            <a:r>
              <a:rPr sz="2400" spc="-75" dirty="0">
                <a:latin typeface="Trebuchet MS" panose="020B0603020202020204"/>
                <a:cs typeface="Trebuchet MS" panose="020B0603020202020204"/>
              </a:rPr>
              <a:t>0</a:t>
            </a:r>
            <a:r>
              <a:rPr sz="2400" spc="-60" dirty="0">
                <a:latin typeface="Trebuchet MS" panose="020B0603020202020204"/>
                <a:cs typeface="Trebuchet MS" panose="020B0603020202020204"/>
              </a:rPr>
              <a:t>2</a:t>
            </a:r>
            <a:endParaRPr sz="2400" dirty="0">
              <a:latin typeface="Trebuchet MS" panose="020B0603020202020204"/>
              <a:cs typeface="Trebuchet MS" panose="020B0603020202020204"/>
            </a:endParaRPr>
          </a:p>
        </p:txBody>
      </p:sp>
      <p:sp>
        <p:nvSpPr>
          <p:cNvPr id="7" name="object 7"/>
          <p:cNvSpPr/>
          <p:nvPr/>
        </p:nvSpPr>
        <p:spPr>
          <a:xfrm>
            <a:off x="173354" y="165104"/>
            <a:ext cx="4060819" cy="1028187"/>
          </a:xfrm>
          <a:prstGeom prst="rect">
            <a:avLst/>
          </a:prstGeom>
          <a:blipFill>
            <a:blip r:embed="rId1" cstate="print"/>
            <a:stretch>
              <a:fillRect/>
            </a:stretch>
          </a:blipFill>
        </p:spPr>
        <p:txBody>
          <a:bodyPr wrap="square" lIns="0" tIns="0" rIns="0" bIns="0" rtlCol="0"/>
          <a:lstStyle/>
          <a:p/>
        </p:txBody>
      </p:sp>
      <p:sp>
        <p:nvSpPr>
          <p:cNvPr id="11" name="TextBox 10"/>
          <p:cNvSpPr txBox="1"/>
          <p:nvPr/>
        </p:nvSpPr>
        <p:spPr>
          <a:xfrm>
            <a:off x="8229600" y="5482458"/>
            <a:ext cx="3505200" cy="1169551"/>
          </a:xfrm>
          <a:prstGeom prst="rect">
            <a:avLst/>
          </a:prstGeom>
          <a:noFill/>
        </p:spPr>
        <p:txBody>
          <a:bodyPr wrap="square">
            <a:spAutoFit/>
          </a:bodyPr>
          <a:lstStyle/>
          <a:p>
            <a:pPr marL="30480">
              <a:lnSpc>
                <a:spcPts val="2775"/>
              </a:lnSpc>
            </a:pPr>
            <a:r>
              <a:rPr lang="en-US" sz="2400" spc="-30" dirty="0">
                <a:latin typeface="Trebuchet MS" panose="020B0603020202020204"/>
                <a:cs typeface="Trebuchet MS" panose="020B0603020202020204"/>
              </a:rPr>
              <a:t>S</a:t>
            </a:r>
            <a:r>
              <a:rPr lang="en-US" sz="2400" spc="-20" dirty="0">
                <a:latin typeface="Trebuchet MS" panose="020B0603020202020204"/>
                <a:cs typeface="Trebuchet MS" panose="020B0603020202020204"/>
              </a:rPr>
              <a:t>u</a:t>
            </a:r>
            <a:r>
              <a:rPr lang="en-US" sz="2400" spc="-5" dirty="0">
                <a:latin typeface="Trebuchet MS" panose="020B0603020202020204"/>
                <a:cs typeface="Trebuchet MS" panose="020B0603020202020204"/>
              </a:rPr>
              <a:t>p</a:t>
            </a:r>
            <a:r>
              <a:rPr lang="en-US" sz="2400" spc="-20" dirty="0">
                <a:latin typeface="Trebuchet MS" panose="020B0603020202020204"/>
                <a:cs typeface="Trebuchet MS" panose="020B0603020202020204"/>
              </a:rPr>
              <a:t>er</a:t>
            </a:r>
            <a:r>
              <a:rPr lang="en-US" sz="2400" spc="-30" dirty="0">
                <a:latin typeface="Trebuchet MS" panose="020B0603020202020204"/>
                <a:cs typeface="Trebuchet MS" panose="020B0603020202020204"/>
              </a:rPr>
              <a:t>v</a:t>
            </a:r>
            <a:r>
              <a:rPr lang="en-US" sz="2400" spc="-15" dirty="0">
                <a:latin typeface="Trebuchet MS" panose="020B0603020202020204"/>
                <a:cs typeface="Trebuchet MS" panose="020B0603020202020204"/>
              </a:rPr>
              <a:t>i</a:t>
            </a:r>
            <a:r>
              <a:rPr lang="en-US" sz="2400" spc="-25" dirty="0">
                <a:latin typeface="Trebuchet MS" panose="020B0603020202020204"/>
                <a:cs typeface="Trebuchet MS" panose="020B0603020202020204"/>
              </a:rPr>
              <a:t>s</a:t>
            </a:r>
            <a:r>
              <a:rPr lang="en-US" sz="2400" spc="-5" dirty="0">
                <a:latin typeface="Trebuchet MS" panose="020B0603020202020204"/>
                <a:cs typeface="Trebuchet MS" panose="020B0603020202020204"/>
              </a:rPr>
              <a:t>e</a:t>
            </a:r>
            <a:r>
              <a:rPr lang="en-US" sz="2400" dirty="0">
                <a:latin typeface="Trebuchet MS" panose="020B0603020202020204"/>
                <a:cs typeface="Trebuchet MS" panose="020B0603020202020204"/>
              </a:rPr>
              <a:t>d</a:t>
            </a:r>
            <a:r>
              <a:rPr lang="en-US" sz="2400" spc="-70" dirty="0">
                <a:latin typeface="Times New Roman" panose="02020603050405020304"/>
                <a:cs typeface="Times New Roman" panose="02020603050405020304"/>
              </a:rPr>
              <a:t> </a:t>
            </a:r>
            <a:r>
              <a:rPr lang="en-US" sz="2400" spc="-45" dirty="0">
                <a:latin typeface="Trebuchet MS" panose="020B0603020202020204"/>
                <a:cs typeface="Trebuchet MS" panose="020B0603020202020204"/>
              </a:rPr>
              <a:t>B</a:t>
            </a:r>
            <a:r>
              <a:rPr lang="en-US" sz="2400" spc="-20" dirty="0">
                <a:latin typeface="Trebuchet MS" panose="020B0603020202020204"/>
                <a:cs typeface="Trebuchet MS" panose="020B0603020202020204"/>
              </a:rPr>
              <a:t>y</a:t>
            </a:r>
            <a:r>
              <a:rPr lang="en-US" sz="2400" dirty="0">
                <a:latin typeface="Trebuchet MS" panose="020B0603020202020204"/>
                <a:cs typeface="Trebuchet MS" panose="020B0603020202020204"/>
              </a:rPr>
              <a:t>:</a:t>
            </a:r>
            <a:endParaRPr lang="en-US" sz="2400" dirty="0">
              <a:latin typeface="Trebuchet MS" panose="020B0603020202020204"/>
              <a:cs typeface="Trebuchet MS" panose="020B0603020202020204"/>
            </a:endParaRPr>
          </a:p>
          <a:p>
            <a:pPr marL="12700" marR="5080">
              <a:lnSpc>
                <a:spcPts val="2660"/>
              </a:lnSpc>
              <a:spcBef>
                <a:spcPts val="165"/>
              </a:spcBef>
            </a:pPr>
            <a:r>
              <a:rPr lang="en-US" sz="2400" spc="-25" dirty="0">
                <a:latin typeface="Trebuchet MS" panose="020B0603020202020204"/>
                <a:cs typeface="Trebuchet MS" panose="020B0603020202020204"/>
              </a:rPr>
              <a:t>M</a:t>
            </a:r>
            <a:r>
              <a:rPr lang="en-US" sz="2400" spc="-35" dirty="0">
                <a:latin typeface="Trebuchet MS" panose="020B0603020202020204"/>
                <a:cs typeface="Trebuchet MS" panose="020B0603020202020204"/>
              </a:rPr>
              <a:t>r</a:t>
            </a:r>
            <a:r>
              <a:rPr lang="en-US" sz="2400" dirty="0">
                <a:latin typeface="Trebuchet MS" panose="020B0603020202020204"/>
                <a:cs typeface="Trebuchet MS" panose="020B0603020202020204"/>
              </a:rPr>
              <a:t>.</a:t>
            </a:r>
            <a:r>
              <a:rPr lang="en-US" sz="2400" spc="75" dirty="0">
                <a:latin typeface="Times New Roman" panose="02020603050405020304"/>
                <a:cs typeface="Times New Roman" panose="02020603050405020304"/>
              </a:rPr>
              <a:t> </a:t>
            </a:r>
            <a:r>
              <a:rPr lang="en-US" sz="2400" spc="-30" dirty="0">
                <a:latin typeface="Trebuchet MS" panose="020B0603020202020204"/>
                <a:cs typeface="Trebuchet MS" panose="020B0603020202020204"/>
              </a:rPr>
              <a:t>Bh</a:t>
            </a:r>
            <a:r>
              <a:rPr lang="en-US" sz="2400" spc="-15" dirty="0">
                <a:latin typeface="Trebuchet MS" panose="020B0603020202020204"/>
                <a:cs typeface="Trebuchet MS" panose="020B0603020202020204"/>
              </a:rPr>
              <a:t>a</a:t>
            </a:r>
            <a:r>
              <a:rPr lang="en-US" sz="2400" spc="-25" dirty="0">
                <a:latin typeface="Trebuchet MS" panose="020B0603020202020204"/>
                <a:cs typeface="Trebuchet MS" panose="020B0603020202020204"/>
              </a:rPr>
              <a:t>w</a:t>
            </a:r>
            <a:r>
              <a:rPr lang="en-US" sz="2400" spc="-15" dirty="0">
                <a:latin typeface="Trebuchet MS" panose="020B0603020202020204"/>
                <a:cs typeface="Trebuchet MS" panose="020B0603020202020204"/>
              </a:rPr>
              <a:t>a</a:t>
            </a:r>
            <a:r>
              <a:rPr lang="en-US" sz="2400" spc="-30" dirty="0">
                <a:latin typeface="Trebuchet MS" panose="020B0603020202020204"/>
                <a:cs typeface="Trebuchet MS" panose="020B0603020202020204"/>
              </a:rPr>
              <a:t>n</a:t>
            </a:r>
            <a:r>
              <a:rPr lang="en-US" sz="2400" dirty="0">
                <a:latin typeface="Trebuchet MS" panose="020B0603020202020204"/>
                <a:cs typeface="Trebuchet MS" panose="020B0603020202020204"/>
              </a:rPr>
              <a:t>i</a:t>
            </a:r>
            <a:r>
              <a:rPr lang="en-US" sz="2400" dirty="0">
                <a:latin typeface="Times New Roman" panose="02020603050405020304"/>
                <a:cs typeface="Times New Roman" panose="02020603050405020304"/>
              </a:rPr>
              <a:t> </a:t>
            </a:r>
            <a:r>
              <a:rPr lang="en-US" sz="2400" spc="-45" dirty="0">
                <a:latin typeface="Trebuchet MS" panose="020B0603020202020204"/>
                <a:cs typeface="Trebuchet MS" panose="020B0603020202020204"/>
              </a:rPr>
              <a:t>S</a:t>
            </a:r>
            <a:r>
              <a:rPr lang="en-US" sz="2400" spc="-15" dirty="0">
                <a:latin typeface="Trebuchet MS" panose="020B0603020202020204"/>
                <a:cs typeface="Trebuchet MS" panose="020B0603020202020204"/>
              </a:rPr>
              <a:t>i</a:t>
            </a:r>
            <a:r>
              <a:rPr lang="en-US" sz="2400" spc="-30" dirty="0">
                <a:latin typeface="Trebuchet MS" panose="020B0603020202020204"/>
                <a:cs typeface="Trebuchet MS" panose="020B0603020202020204"/>
              </a:rPr>
              <a:t>n</a:t>
            </a:r>
            <a:r>
              <a:rPr lang="en-US" sz="2400" spc="-35" dirty="0">
                <a:latin typeface="Trebuchet MS" panose="020B0603020202020204"/>
                <a:cs typeface="Trebuchet MS" panose="020B0603020202020204"/>
              </a:rPr>
              <a:t>g</a:t>
            </a:r>
            <a:r>
              <a:rPr lang="en-US" sz="2400" dirty="0">
                <a:latin typeface="Trebuchet MS" panose="020B0603020202020204"/>
                <a:cs typeface="Trebuchet MS" panose="020B0603020202020204"/>
              </a:rPr>
              <a:t>h</a:t>
            </a:r>
            <a:r>
              <a:rPr lang="en-US" sz="2400" spc="80" dirty="0">
                <a:latin typeface="Times New Roman" panose="02020603050405020304"/>
                <a:cs typeface="Times New Roman" panose="02020603050405020304"/>
              </a:rPr>
              <a:t> </a:t>
            </a:r>
            <a:r>
              <a:rPr lang="en-US" sz="2400" spc="-20" dirty="0">
                <a:latin typeface="Trebuchet MS" panose="020B0603020202020204"/>
                <a:cs typeface="Trebuchet MS" panose="020B0603020202020204"/>
              </a:rPr>
              <a:t>R</a:t>
            </a:r>
            <a:r>
              <a:rPr lang="en-US" sz="2400" spc="-25" dirty="0">
                <a:latin typeface="Trebuchet MS" panose="020B0603020202020204"/>
                <a:cs typeface="Trebuchet MS" panose="020B0603020202020204"/>
              </a:rPr>
              <a:t>a</a:t>
            </a:r>
            <a:r>
              <a:rPr lang="en-US" sz="2400" spc="-20" dirty="0">
                <a:latin typeface="Trebuchet MS" panose="020B0603020202020204"/>
                <a:cs typeface="Trebuchet MS" panose="020B0603020202020204"/>
              </a:rPr>
              <a:t>th</a:t>
            </a:r>
            <a:r>
              <a:rPr lang="en-US" sz="2400" spc="-45" dirty="0">
                <a:latin typeface="Trebuchet MS" panose="020B0603020202020204"/>
                <a:cs typeface="Trebuchet MS" panose="020B0603020202020204"/>
              </a:rPr>
              <a:t>o</a:t>
            </a:r>
            <a:r>
              <a:rPr lang="en-US" sz="2400" spc="-35" dirty="0">
                <a:latin typeface="Trebuchet MS" panose="020B0603020202020204"/>
                <a:cs typeface="Trebuchet MS" panose="020B0603020202020204"/>
              </a:rPr>
              <a:t>r</a:t>
            </a:r>
            <a:r>
              <a:rPr lang="en-US" sz="2400" spc="-25" dirty="0">
                <a:latin typeface="Trebuchet MS" panose="020B0603020202020204"/>
                <a:cs typeface="Trebuchet MS" panose="020B0603020202020204"/>
              </a:rPr>
              <a:t>e</a:t>
            </a:r>
            <a:endParaRPr lang="en-US" sz="2400" dirty="0">
              <a:latin typeface="Trebuchet MS" panose="020B0603020202020204"/>
              <a:cs typeface="Trebuchet MS" panose="020B06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75" dirty="0"/>
              <a:t>O</a:t>
            </a:r>
            <a:r>
              <a:rPr spc="-80" dirty="0"/>
              <a:t>u</a:t>
            </a:r>
            <a:r>
              <a:rPr spc="-70" dirty="0"/>
              <a:t>t</a:t>
            </a:r>
            <a:r>
              <a:rPr spc="-90" dirty="0"/>
              <a:t>l</a:t>
            </a:r>
            <a:r>
              <a:rPr spc="-80" dirty="0"/>
              <a:t>in</a:t>
            </a:r>
            <a:r>
              <a:rPr dirty="0"/>
              <a:t>e</a:t>
            </a:r>
            <a:endParaRPr dirty="0"/>
          </a:p>
        </p:txBody>
      </p:sp>
      <p:sp>
        <p:nvSpPr>
          <p:cNvPr id="3" name="object 3"/>
          <p:cNvSpPr txBox="1"/>
          <p:nvPr/>
        </p:nvSpPr>
        <p:spPr>
          <a:xfrm>
            <a:off x="762254" y="1448023"/>
            <a:ext cx="3320415" cy="3077845"/>
          </a:xfrm>
          <a:prstGeom prst="rect">
            <a:avLst/>
          </a:prstGeom>
        </p:spPr>
        <p:txBody>
          <a:bodyPr vert="horz" wrap="square" lIns="0" tIns="0" rIns="0" bIns="0" rtlCol="0">
            <a:spAutoFit/>
          </a:bodyPr>
          <a:lstStyle/>
          <a:p>
            <a:pPr marL="12700" algn="l">
              <a:lnSpc>
                <a:spcPct val="100000"/>
              </a:lnSpc>
            </a:pPr>
            <a:r>
              <a:rPr lang="en-US" altLang="en-US" sz="2000">
                <a:latin typeface="Trebuchet MS" panose="020B0603020202020204"/>
                <a:cs typeface="Trebuchet MS" panose="020B0603020202020204"/>
              </a:rPr>
              <a:t>• Introduction</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Literature Review</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Problem Statement</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Objectives</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Proposed Methodology</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Results &amp; Performance</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Analysis</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Outcome &amp; Contributions</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Future Work</a:t>
            </a:r>
            <a:endParaRPr lang="en-US" altLang="en-US" sz="2000">
              <a:latin typeface="Trebuchet MS" panose="020B0603020202020204"/>
              <a:cs typeface="Trebuchet MS" panose="020B0603020202020204"/>
            </a:endParaRPr>
          </a:p>
          <a:p>
            <a:pPr marL="12700" algn="l">
              <a:lnSpc>
                <a:spcPct val="100000"/>
              </a:lnSpc>
            </a:pPr>
            <a:r>
              <a:rPr lang="en-US" altLang="en-US" sz="2000">
                <a:latin typeface="Trebuchet MS" panose="020B0603020202020204"/>
                <a:cs typeface="Trebuchet MS" panose="020B0603020202020204"/>
              </a:rPr>
              <a:t>• References</a:t>
            </a:r>
            <a:endParaRPr lang="en-US" altLang="en-US" sz="2000">
              <a:latin typeface="Trebuchet MS" panose="020B0603020202020204"/>
              <a:cs typeface="Trebuchet MS" panose="020B0603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40" dirty="0"/>
              <a:t>I</a:t>
            </a:r>
            <a:r>
              <a:rPr spc="-285" dirty="0"/>
              <a:t>n</a:t>
            </a:r>
            <a:r>
              <a:rPr spc="-200" dirty="0"/>
              <a:t>t</a:t>
            </a:r>
            <a:r>
              <a:rPr spc="-210" dirty="0"/>
              <a:t>r</a:t>
            </a:r>
            <a:r>
              <a:rPr spc="-265" dirty="0"/>
              <a:t>od</a:t>
            </a:r>
            <a:r>
              <a:rPr spc="-285" dirty="0"/>
              <a:t>u</a:t>
            </a:r>
            <a:r>
              <a:rPr spc="-254" dirty="0"/>
              <a:t>c</a:t>
            </a:r>
            <a:r>
              <a:rPr spc="-170" dirty="0"/>
              <a:t>ti</a:t>
            </a:r>
            <a:r>
              <a:rPr spc="-275" dirty="0"/>
              <a:t>o</a:t>
            </a:r>
            <a:r>
              <a:rPr spc="-260" dirty="0"/>
              <a:t>n</a:t>
            </a:r>
            <a:r>
              <a:rPr spc="-180" dirty="0"/>
              <a:t>:</a:t>
            </a:r>
            <a:endParaRPr spc="-180" dirty="0"/>
          </a:p>
        </p:txBody>
      </p:sp>
      <p:sp>
        <p:nvSpPr>
          <p:cNvPr id="3" name="object 3"/>
          <p:cNvSpPr txBox="1"/>
          <p:nvPr/>
        </p:nvSpPr>
        <p:spPr>
          <a:xfrm>
            <a:off x="609853" y="1905259"/>
            <a:ext cx="10795000" cy="2153920"/>
          </a:xfrm>
          <a:prstGeom prst="rect">
            <a:avLst/>
          </a:prstGeom>
          <a:ln w="4317">
            <a:solidFill>
              <a:srgbClr val="E5E7EB"/>
            </a:solidFill>
          </a:ln>
        </p:spPr>
        <p:txBody>
          <a:bodyPr vert="horz" wrap="square" lIns="0" tIns="0" rIns="0" bIns="0" rtlCol="0">
            <a:spAutoFit/>
          </a:bodyPr>
          <a:lstStyle/>
          <a:p>
            <a:r>
              <a:rPr lang="en-US" altLang="en-US" sz="2400" dirty="0">
                <a:latin typeface="Arial" panose="020B0604020202020204"/>
                <a:cs typeface="Arial" panose="020B0604020202020204"/>
              </a:rPr>
              <a:t>• Traditional library systems rely on exact keyword matching.</a:t>
            </a:r>
            <a:endParaRPr lang="en-US" altLang="en-US" sz="2400" dirty="0">
              <a:latin typeface="Arial" panose="020B0604020202020204"/>
              <a:cs typeface="Arial" panose="020B0604020202020204"/>
            </a:endParaRPr>
          </a:p>
          <a:p>
            <a:r>
              <a:rPr lang="en-US" altLang="en-US" sz="2400" dirty="0">
                <a:latin typeface="Arial" panose="020B0604020202020204"/>
                <a:cs typeface="Arial" panose="020B0604020202020204"/>
              </a:rPr>
              <a:t>• Users must remember precise titles or author names.</a:t>
            </a:r>
            <a:endParaRPr lang="en-US" altLang="en-US" sz="2400" dirty="0">
              <a:latin typeface="Arial" panose="020B0604020202020204"/>
              <a:cs typeface="Arial" panose="020B0604020202020204"/>
            </a:endParaRPr>
          </a:p>
          <a:p>
            <a:r>
              <a:rPr lang="en-US" altLang="en-US" sz="2400" dirty="0">
                <a:latin typeface="Arial" panose="020B0604020202020204"/>
                <a:cs typeface="Arial" panose="020B0604020202020204"/>
              </a:rPr>
              <a:t>• Systems fail to interpret natural or conversational queries.</a:t>
            </a:r>
            <a:endParaRPr lang="en-US" altLang="en-US" sz="2400" dirty="0">
              <a:latin typeface="Arial" panose="020B0604020202020204"/>
              <a:cs typeface="Arial" panose="020B0604020202020204"/>
            </a:endParaRPr>
          </a:p>
          <a:p>
            <a:r>
              <a:rPr lang="en-US" altLang="en-US" sz="2400" dirty="0">
                <a:latin typeface="Arial" panose="020B0604020202020204"/>
                <a:cs typeface="Arial" panose="020B0604020202020204"/>
              </a:rPr>
              <a:t>• Limited discoverability leads to poor user experience.</a:t>
            </a:r>
            <a:endParaRPr lang="en-US" altLang="en-US" sz="2400" dirty="0">
              <a:latin typeface="Arial" panose="020B0604020202020204"/>
              <a:cs typeface="Arial" panose="020B0604020202020204"/>
            </a:endParaRPr>
          </a:p>
          <a:p>
            <a:r>
              <a:rPr lang="en-US" altLang="en-US" sz="2400" dirty="0">
                <a:latin typeface="Arial" panose="020B0604020202020204"/>
                <a:cs typeface="Arial" panose="020B0604020202020204"/>
              </a:rPr>
              <a:t>• There is a growing need for semantic understanding in digital libraries</a:t>
            </a:r>
            <a:r>
              <a:rPr lang="en-US" altLang="en-US" sz="2000" dirty="0">
                <a:latin typeface="Arial" panose="020B0604020202020204"/>
                <a:cs typeface="Arial" panose="020B0604020202020204"/>
              </a:rPr>
              <a:t>.</a:t>
            </a:r>
            <a:endParaRPr lang="en-US" altLang="en-US" sz="2000" dirty="0">
              <a:latin typeface="Arial" panose="020B0604020202020204"/>
              <a:cs typeface="Arial" panose="020B0604020202020204"/>
            </a:endParaRPr>
          </a:p>
          <a:p>
            <a:endParaRPr lang="en-US" altLang="en-US" sz="2000" dirty="0">
              <a:latin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 y="89620"/>
            <a:ext cx="10355070" cy="676910"/>
          </a:xfrm>
          <a:prstGeom prst="rect">
            <a:avLst/>
          </a:prstGeom>
        </p:spPr>
        <p:txBody>
          <a:bodyPr vert="horz" wrap="square" lIns="0" tIns="0" rIns="0" bIns="0" rtlCol="0">
            <a:spAutoFit/>
          </a:bodyPr>
          <a:lstStyle/>
          <a:p>
            <a:pPr marL="12700">
              <a:lnSpc>
                <a:spcPct val="100000"/>
              </a:lnSpc>
            </a:pPr>
            <a:r>
              <a:rPr lang="en-US" dirty="0">
                <a:latin typeface="Arial" panose="020B0604020202020204" pitchFamily="34" charset="0"/>
                <a:cs typeface="Arial" panose="020B0604020202020204" pitchFamily="34" charset="0"/>
              </a:rPr>
              <a:t>Literature Review</a:t>
            </a:r>
            <a:r>
              <a:rPr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p:txBody>
      </p:sp>
      <p:sp>
        <p:nvSpPr>
          <p:cNvPr id="5" name="object 5"/>
          <p:cNvSpPr/>
          <p:nvPr/>
        </p:nvSpPr>
        <p:spPr>
          <a:xfrm>
            <a:off x="70103" y="2033656"/>
            <a:ext cx="0" cy="4483100"/>
          </a:xfrm>
          <a:custGeom>
            <a:avLst/>
            <a:gdLst/>
            <a:ahLst/>
            <a:cxnLst/>
            <a:rect l="l" t="t" r="r" b="b"/>
            <a:pathLst>
              <a:path h="4483100">
                <a:moveTo>
                  <a:pt x="0" y="0"/>
                </a:moveTo>
                <a:lnTo>
                  <a:pt x="0" y="4482967"/>
                </a:lnTo>
              </a:path>
            </a:pathLst>
          </a:custGeom>
          <a:ln w="4317">
            <a:solidFill>
              <a:srgbClr val="E5E7EB"/>
            </a:solidFill>
          </a:ln>
        </p:spPr>
        <p:txBody>
          <a:bodyPr wrap="square" lIns="0" tIns="0" rIns="0" bIns="0" rtlCol="0"/>
          <a:lstStyle/>
          <a:p/>
        </p:txBody>
      </p:sp>
      <p:sp>
        <p:nvSpPr>
          <p:cNvPr id="6" name="object 6"/>
          <p:cNvSpPr/>
          <p:nvPr/>
        </p:nvSpPr>
        <p:spPr>
          <a:xfrm>
            <a:off x="10864595" y="2033656"/>
            <a:ext cx="0" cy="4483100"/>
          </a:xfrm>
          <a:custGeom>
            <a:avLst/>
            <a:gdLst/>
            <a:ahLst/>
            <a:cxnLst/>
            <a:rect l="l" t="t" r="r" b="b"/>
            <a:pathLst>
              <a:path h="4483100">
                <a:moveTo>
                  <a:pt x="0" y="0"/>
                </a:moveTo>
                <a:lnTo>
                  <a:pt x="0" y="4482967"/>
                </a:lnTo>
              </a:path>
            </a:pathLst>
          </a:custGeom>
          <a:ln w="4317">
            <a:solidFill>
              <a:srgbClr val="E5E7EB"/>
            </a:solidFill>
          </a:ln>
        </p:spPr>
        <p:txBody>
          <a:bodyPr wrap="square" lIns="0" tIns="0" rIns="0" bIns="0" rtlCol="0"/>
          <a:lstStyle/>
          <a:p/>
        </p:txBody>
      </p:sp>
      <p:sp>
        <p:nvSpPr>
          <p:cNvPr id="21" name="object 21"/>
          <p:cNvSpPr txBox="1"/>
          <p:nvPr/>
        </p:nvSpPr>
        <p:spPr>
          <a:xfrm>
            <a:off x="76200" y="838200"/>
            <a:ext cx="11459709" cy="5725795"/>
          </a:xfrm>
          <a:prstGeom prst="rect">
            <a:avLst/>
          </a:prstGeom>
        </p:spPr>
        <p:txBody>
          <a:bodyPr vert="horz" wrap="square" lIns="0" tIns="0" rIns="0" bIns="0" rtlCol="0">
            <a:spAutoFit/>
          </a:bodyPr>
          <a:lstStyle/>
          <a:p>
            <a:pPr marL="12700" algn="just">
              <a:lnSpc>
                <a:spcPts val="2350"/>
              </a:lnSpc>
            </a:pPr>
            <a:r>
              <a:rPr lang="en-US" altLang="en-US" dirty="0">
                <a:latin typeface="Arial" panose="020B0604020202020204"/>
                <a:cs typeface="Arial" panose="020B0604020202020204"/>
              </a:rPr>
              <a:t>1. Keyword-Based OPAC Systems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Relied on exact keyword matching.</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Required precise title or author input.</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No contextual understanding of queries.</a:t>
            </a:r>
            <a:endParaRPr lang="en-US" altLang="en-US" dirty="0">
              <a:latin typeface="Arial" panose="020B0604020202020204"/>
              <a:cs typeface="Arial" panose="020B0604020202020204"/>
            </a:endParaRPr>
          </a:p>
          <a:p>
            <a:pPr marL="12700" algn="just">
              <a:lnSpc>
                <a:spcPts val="2350"/>
              </a:lnSpc>
            </a:pP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2. TF-IDF and Vector Space Models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Introduced weighted term relevance.</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Represented documents in vector space.</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Improved ranking but still keyword-dependent.</a:t>
            </a:r>
            <a:endParaRPr lang="en-US" altLang="en-US" dirty="0">
              <a:latin typeface="Arial" panose="020B0604020202020204"/>
              <a:cs typeface="Arial" panose="020B0604020202020204"/>
            </a:endParaRPr>
          </a:p>
          <a:p>
            <a:pPr marL="12700" algn="just">
              <a:lnSpc>
                <a:spcPts val="2350"/>
              </a:lnSpc>
            </a:pP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3. Word Embeddings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Represented words as dense vectors.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Captured semantic similarity between terms.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Enabled meaning-based retrieval.</a:t>
            </a:r>
            <a:endParaRPr lang="en-US" altLang="en-US" dirty="0">
              <a:latin typeface="Arial" panose="020B0604020202020204"/>
              <a:cs typeface="Arial" panose="020B0604020202020204"/>
            </a:endParaRPr>
          </a:p>
          <a:p>
            <a:pPr marL="12700" algn="just">
              <a:lnSpc>
                <a:spcPts val="2350"/>
              </a:lnSpc>
            </a:pP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4. Transformer Models (BERT &amp; LLMs)</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Use attention mechanisms for contextual understanding.</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Interpret complete sentence meaning.</a:t>
            </a:r>
            <a:endParaRPr lang="en-US" altLang="en-US" dirty="0">
              <a:latin typeface="Arial" panose="020B0604020202020204"/>
              <a:cs typeface="Arial" panose="020B0604020202020204"/>
            </a:endParaRPr>
          </a:p>
          <a:p>
            <a:pPr marL="12700" algn="just">
              <a:lnSpc>
                <a:spcPts val="2350"/>
              </a:lnSpc>
            </a:pPr>
            <a:r>
              <a:rPr lang="en-US" altLang="en-US" dirty="0">
                <a:latin typeface="Arial" panose="020B0604020202020204"/>
                <a:cs typeface="Arial" panose="020B0604020202020204"/>
              </a:rPr>
              <a:t>• Represent the latest advancement in semantic search.</a:t>
            </a:r>
            <a:endParaRPr lang="en-US" altLang="en-US" dirty="0">
              <a:latin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70103" y="583637"/>
            <a:ext cx="0" cy="1195705"/>
          </a:xfrm>
          <a:custGeom>
            <a:avLst/>
            <a:gdLst/>
            <a:ahLst/>
            <a:cxnLst/>
            <a:rect l="l" t="t" r="r" b="b"/>
            <a:pathLst>
              <a:path h="1195705">
                <a:moveTo>
                  <a:pt x="0" y="0"/>
                </a:moveTo>
                <a:lnTo>
                  <a:pt x="0" y="1195114"/>
                </a:lnTo>
              </a:path>
            </a:pathLst>
          </a:custGeom>
          <a:ln w="4317">
            <a:solidFill>
              <a:srgbClr val="E5E7EB"/>
            </a:solidFill>
          </a:ln>
        </p:spPr>
        <p:txBody>
          <a:bodyPr wrap="square" lIns="0" tIns="0" rIns="0" bIns="0" rtlCol="0"/>
          <a:lstStyle/>
          <a:p/>
        </p:txBody>
      </p:sp>
      <p:sp>
        <p:nvSpPr>
          <p:cNvPr id="4" name="object 4"/>
          <p:cNvSpPr/>
          <p:nvPr/>
        </p:nvSpPr>
        <p:spPr>
          <a:xfrm>
            <a:off x="10864595" y="583637"/>
            <a:ext cx="0" cy="1195705"/>
          </a:xfrm>
          <a:custGeom>
            <a:avLst/>
            <a:gdLst/>
            <a:ahLst/>
            <a:cxnLst/>
            <a:rect l="l" t="t" r="r" b="b"/>
            <a:pathLst>
              <a:path h="1195705">
                <a:moveTo>
                  <a:pt x="0" y="0"/>
                </a:moveTo>
                <a:lnTo>
                  <a:pt x="0" y="1195114"/>
                </a:lnTo>
              </a:path>
            </a:pathLst>
          </a:custGeom>
          <a:ln w="4317">
            <a:solidFill>
              <a:srgbClr val="E5E7EB"/>
            </a:solidFill>
          </a:ln>
        </p:spPr>
        <p:txBody>
          <a:bodyPr wrap="square" lIns="0" tIns="0" rIns="0" bIns="0" rtlCol="0"/>
          <a:lstStyle/>
          <a:p/>
        </p:txBody>
      </p:sp>
      <p:sp>
        <p:nvSpPr>
          <p:cNvPr id="7" name="object 7"/>
          <p:cNvSpPr txBox="1"/>
          <p:nvPr/>
        </p:nvSpPr>
        <p:spPr>
          <a:xfrm>
            <a:off x="89444" y="228600"/>
            <a:ext cx="11264356" cy="6431280"/>
          </a:xfrm>
          <a:prstGeom prst="rect">
            <a:avLst/>
          </a:prstGeom>
        </p:spPr>
        <p:txBody>
          <a:bodyPr vert="horz" wrap="square" lIns="0" tIns="0" rIns="0" bIns="0" rtlCol="0">
            <a:spAutoFit/>
          </a:bodyPr>
          <a:lstStyle/>
          <a:p>
            <a:pPr marL="12700">
              <a:lnSpc>
                <a:spcPts val="2350"/>
              </a:lnSpc>
              <a:spcBef>
                <a:spcPts val="40"/>
              </a:spcBef>
            </a:pPr>
            <a:r>
              <a:rPr lang="en-US" altLang="en-US" sz="2400" b="1" dirty="0">
                <a:latin typeface="Arial" panose="020B0604020202020204"/>
                <a:cs typeface="Arial" panose="020B0604020202020204"/>
              </a:rPr>
              <a:t>Recommendation &amp; Advanced Semantic Techniques</a:t>
            </a:r>
            <a:endParaRPr lang="en-US" altLang="en-US" sz="2400" b="1" dirty="0">
              <a:latin typeface="Arial" panose="020B0604020202020204"/>
              <a:cs typeface="Arial" panose="020B0604020202020204"/>
            </a:endParaRPr>
          </a:p>
          <a:p>
            <a:pPr marL="12700">
              <a:lnSpc>
                <a:spcPts val="2350"/>
              </a:lnSpc>
              <a:spcBef>
                <a:spcPts val="40"/>
              </a:spcBef>
            </a:pPr>
            <a:r>
              <a:rPr lang="en-US" altLang="en-US" sz="2400" b="1" dirty="0">
                <a:latin typeface="Arial" panose="020B0604020202020204"/>
                <a:cs typeface="Arial" panose="020B0604020202020204"/>
              </a:rPr>
              <a:t>1. Content-Based Filtering</a:t>
            </a:r>
            <a:endParaRPr lang="en-US" altLang="en-US" sz="2400" b="1"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Uses item features such as descriptions and metadata.</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Suitable for libraries with limited user history.</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Forms the foundation of semantic recommendation systems.</a:t>
            </a:r>
            <a:endParaRPr lang="en-US" altLang="en-US" sz="2400" dirty="0">
              <a:latin typeface="Arial" panose="020B0604020202020204"/>
              <a:cs typeface="Arial" panose="020B0604020202020204"/>
            </a:endParaRPr>
          </a:p>
          <a:p>
            <a:pPr marL="12700">
              <a:lnSpc>
                <a:spcPts val="2350"/>
              </a:lnSpc>
              <a:spcBef>
                <a:spcPts val="40"/>
              </a:spcBef>
            </a:pPr>
            <a:endParaRPr lang="en-US" altLang="en-US" sz="2400" b="1" dirty="0">
              <a:latin typeface="Arial" panose="020B0604020202020204"/>
              <a:cs typeface="Arial" panose="020B0604020202020204"/>
            </a:endParaRPr>
          </a:p>
          <a:p>
            <a:pPr marL="12700">
              <a:lnSpc>
                <a:spcPts val="2350"/>
              </a:lnSpc>
              <a:spcBef>
                <a:spcPts val="40"/>
              </a:spcBef>
            </a:pPr>
            <a:r>
              <a:rPr lang="en-US" altLang="en-US" sz="2400" b="1" dirty="0">
                <a:latin typeface="Arial" panose="020B0604020202020204"/>
                <a:cs typeface="Arial" panose="020B0604020202020204"/>
              </a:rPr>
              <a:t>2. Cosine Similarity</a:t>
            </a:r>
            <a:endParaRPr lang="en-US" altLang="en-US" sz="2400" b="1"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Measures closeness between vector representations.</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Efficient and interpretable for ranking search results.</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Commonly used in information retrieval systems.</a:t>
            </a:r>
            <a:endParaRPr lang="en-US" altLang="en-US" sz="2400" dirty="0">
              <a:latin typeface="Arial" panose="020B0604020202020204"/>
              <a:cs typeface="Arial" panose="020B0604020202020204"/>
            </a:endParaRPr>
          </a:p>
          <a:p>
            <a:pPr marL="12700">
              <a:lnSpc>
                <a:spcPts val="2350"/>
              </a:lnSpc>
              <a:spcBef>
                <a:spcPts val="40"/>
              </a:spcBef>
            </a:pPr>
            <a:endParaRPr lang="en-US" altLang="en-US" sz="2400" dirty="0">
              <a:latin typeface="Arial" panose="020B0604020202020204"/>
              <a:cs typeface="Arial" panose="020B0604020202020204"/>
            </a:endParaRPr>
          </a:p>
          <a:p>
            <a:pPr marL="12700">
              <a:lnSpc>
                <a:spcPts val="2350"/>
              </a:lnSpc>
              <a:spcBef>
                <a:spcPts val="40"/>
              </a:spcBef>
            </a:pPr>
            <a:r>
              <a:rPr lang="en-US" altLang="en-US" sz="2400" b="1" dirty="0">
                <a:latin typeface="Arial" panose="020B0604020202020204"/>
                <a:cs typeface="Arial" panose="020B0604020202020204"/>
              </a:rPr>
              <a:t>3. K-Nearest Neighbour (KNN)</a:t>
            </a:r>
            <a:endParaRPr lang="en-US" altLang="en-US" sz="2400" b="1"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Identifies similar books based on vector proximity.</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Effective for structured and moderate-sized datasets.</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Simple yet reliable recommendation technique.</a:t>
            </a:r>
            <a:endParaRPr lang="en-US" altLang="en-US" sz="2400" dirty="0">
              <a:latin typeface="Arial" panose="020B0604020202020204"/>
              <a:cs typeface="Arial" panose="020B0604020202020204"/>
            </a:endParaRPr>
          </a:p>
          <a:p>
            <a:pPr marL="12700">
              <a:lnSpc>
                <a:spcPts val="2350"/>
              </a:lnSpc>
              <a:spcBef>
                <a:spcPts val="40"/>
              </a:spcBef>
            </a:pPr>
            <a:endParaRPr lang="en-US" altLang="en-US" sz="2400" dirty="0">
              <a:latin typeface="Arial" panose="020B0604020202020204"/>
              <a:cs typeface="Arial" panose="020B0604020202020204"/>
            </a:endParaRPr>
          </a:p>
          <a:p>
            <a:pPr marL="12700">
              <a:lnSpc>
                <a:spcPts val="2350"/>
              </a:lnSpc>
              <a:spcBef>
                <a:spcPts val="40"/>
              </a:spcBef>
            </a:pPr>
            <a:r>
              <a:rPr lang="en-US" altLang="en-US" sz="2400" b="1" dirty="0">
                <a:latin typeface="Arial" panose="020B0604020202020204"/>
                <a:cs typeface="Arial" panose="020B0604020202020204"/>
              </a:rPr>
              <a:t>4. Large Language Models (LLMs)</a:t>
            </a:r>
            <a:endParaRPr lang="en-US" altLang="en-US" sz="2400" b="1"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Built on transformer architecture for deep contextual understanding.</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Capable of interpreting complex and conversational queries.</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Enable intent extraction and semantic refinement before retrieval.</a:t>
            </a:r>
            <a:endParaRPr lang="en-US" altLang="en-US" sz="2400" dirty="0">
              <a:latin typeface="Arial" panose="020B0604020202020204"/>
              <a:cs typeface="Arial" panose="020B0604020202020204"/>
            </a:endParaRPr>
          </a:p>
          <a:p>
            <a:pPr marL="12700">
              <a:lnSpc>
                <a:spcPts val="2350"/>
              </a:lnSpc>
              <a:spcBef>
                <a:spcPts val="40"/>
              </a:spcBef>
            </a:pPr>
            <a:r>
              <a:rPr lang="en-US" altLang="en-US" sz="2400" dirty="0">
                <a:latin typeface="Arial" panose="020B0604020202020204"/>
                <a:cs typeface="Arial" panose="020B0604020202020204"/>
              </a:rPr>
              <a:t>• Represent the next evolution of intelligent information systems.</a:t>
            </a:r>
            <a:endParaRPr lang="en-US" altLang="en-US" sz="2400" dirty="0">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464" y="717881"/>
            <a:ext cx="10355070" cy="3261995"/>
          </a:xfrm>
          <a:prstGeom prst="rect">
            <a:avLst/>
          </a:prstGeom>
        </p:spPr>
        <p:txBody>
          <a:bodyPr vert="horz" wrap="square" lIns="0" tIns="0" rIns="0" bIns="0" rtlCol="0">
            <a:spAutoFit/>
          </a:bodyPr>
          <a:lstStyle/>
          <a:p>
            <a:pPr marL="12700"/>
            <a:r>
              <a:rPr lang="en-US" altLang="en-US" sz="2800" b="1" spc="-100" dirty="0">
                <a:latin typeface="Arial" panose="020B0604020202020204" pitchFamily="34" charset="0"/>
                <a:cs typeface="Arial" panose="020B0604020202020204" pitchFamily="34" charset="0"/>
              </a:rPr>
              <a:t>Problem Statement</a:t>
            </a:r>
            <a:br>
              <a:rPr lang="en-US" altLang="en-US" spc="-100" dirty="0">
                <a:latin typeface="Arial" panose="020B0604020202020204" pitchFamily="34" charset="0"/>
                <a:cs typeface="Arial" panose="020B0604020202020204" pitchFamily="34" charset="0"/>
              </a:rPr>
            </a:br>
            <a:r>
              <a:rPr lang="en-US" altLang="en-US" sz="2800" spc="-100" dirty="0">
                <a:latin typeface="Arial" panose="020B0604020202020204" pitchFamily="34" charset="0"/>
                <a:cs typeface="Arial" panose="020B0604020202020204" pitchFamily="34" charset="0"/>
              </a:rPr>
              <a:t>Existing library systems rely heavily on exact keyword matching and fail to understand natural language queries. This often leads to irrelevant results and poor user experience. Therefore, there is a need for an AI-based system that enables semantic search and intelligent book recommendations.</a:t>
            </a:r>
            <a:br>
              <a:rPr lang="en-US" spc="-100" dirty="0"/>
            </a:br>
            <a:endParaRPr spc="-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7054" y="761696"/>
            <a:ext cx="10355070" cy="3508375"/>
          </a:xfrm>
          <a:prstGeom prst="rect">
            <a:avLst/>
          </a:prstGeom>
        </p:spPr>
        <p:txBody>
          <a:bodyPr vert="horz" wrap="square" lIns="0" tIns="0" rIns="0" bIns="0" rtlCol="0">
            <a:spAutoFit/>
          </a:bodyPr>
          <a:lstStyle/>
          <a:p>
            <a:pPr marL="12700">
              <a:lnSpc>
                <a:spcPct val="100000"/>
              </a:lnSpc>
            </a:pPr>
            <a:r>
              <a:rPr lang="en-US" altLang="en-US" sz="3200" b="1" dirty="0">
                <a:latin typeface="Arial" panose="020B0604020202020204" pitchFamily="34" charset="0"/>
                <a:cs typeface="Arial" panose="020B0604020202020204" pitchFamily="34" charset="0"/>
              </a:rPr>
              <a:t>Objectives</a:t>
            </a:r>
            <a:br>
              <a:rPr lang="en-US" altLang="en-US" sz="2800" dirty="0">
                <a:latin typeface="Arial" panose="020B0604020202020204" pitchFamily="34" charset="0"/>
                <a:cs typeface="Arial" panose="020B0604020202020204" pitchFamily="34" charset="0"/>
              </a:rPr>
            </a:b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Interpret natural language queries using NLP techniques.</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Implement semantic similarity using vector representations.</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Rank search results using cosine similarity.</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Provide intelligent recommendations using KNN.</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Enable genre-based discovery.</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Maintain modular and scalable architecture.</a:t>
            </a:r>
            <a:endParaRPr lang="en-US" altLang="en-US" sz="2800" dirty="0">
              <a:latin typeface="Arial" panose="020B0604020202020204" pitchFamily="34" charset="0"/>
              <a:cs typeface="Arial" panose="020B0604020202020204" pitchFamily="34" charset="0"/>
            </a:endParaRPr>
          </a:p>
        </p:txBody>
      </p:sp>
      <p:sp>
        <p:nvSpPr>
          <p:cNvPr id="7" name="object 7"/>
          <p:cNvSpPr/>
          <p:nvPr/>
        </p:nvSpPr>
        <p:spPr>
          <a:xfrm>
            <a:off x="68580" y="4601848"/>
            <a:ext cx="10797540" cy="0"/>
          </a:xfrm>
          <a:custGeom>
            <a:avLst/>
            <a:gdLst/>
            <a:ahLst/>
            <a:cxnLst/>
            <a:rect l="l" t="t" r="r" b="b"/>
            <a:pathLst>
              <a:path w="10797540">
                <a:moveTo>
                  <a:pt x="0" y="0"/>
                </a:moveTo>
                <a:lnTo>
                  <a:pt x="10797539" y="0"/>
                </a:lnTo>
              </a:path>
            </a:pathLst>
          </a:custGeom>
          <a:ln w="4317">
            <a:solidFill>
              <a:srgbClr val="E5E7EB"/>
            </a:solidFill>
          </a:ln>
        </p:spPr>
        <p:txBody>
          <a:bodyPr wrap="square" lIns="0" tIns="0" rIns="0" bIns="0" rtlCol="0"/>
          <a:lstStyle/>
          <a:p/>
        </p:txBody>
      </p:sp>
      <p:sp>
        <p:nvSpPr>
          <p:cNvPr id="10" name="Text Box 9"/>
          <p:cNvSpPr txBox="1"/>
          <p:nvPr/>
        </p:nvSpPr>
        <p:spPr>
          <a:xfrm>
            <a:off x="-810260" y="1887220"/>
            <a:ext cx="4064000" cy="368300"/>
          </a:xfrm>
          <a:prstGeom prst="rect">
            <a:avLst/>
          </a:prstGeom>
          <a:noFill/>
        </p:spPr>
        <p:txBody>
          <a:bodyPr wrap="square" rtlCol="0">
            <a:spAutoFit/>
          </a:bodyPr>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464" y="717881"/>
            <a:ext cx="10355070" cy="4986020"/>
          </a:xfrm>
          <a:prstGeom prst="rect">
            <a:avLst/>
          </a:prstGeom>
        </p:spPr>
        <p:txBody>
          <a:bodyPr vert="horz" wrap="square" lIns="0" tIns="0" rIns="0" bIns="0" rtlCol="0">
            <a:spAutoFit/>
          </a:bodyPr>
          <a:lstStyle/>
          <a:p>
            <a:r>
              <a:rPr lang="en-US" altLang="en-US" sz="2800" b="1" dirty="0">
                <a:latin typeface="Arial" panose="020B0604020202020204" pitchFamily="34" charset="0"/>
                <a:cs typeface="Arial" panose="020B0604020202020204" pitchFamily="34" charset="0"/>
              </a:rPr>
              <a:t>Proposed Methodology</a:t>
            </a:r>
            <a:br>
              <a:rPr lang="en-US" altLang="en-US" sz="2800" dirty="0">
                <a:latin typeface="Arial" panose="020B0604020202020204" pitchFamily="34" charset="0"/>
                <a:cs typeface="Arial" panose="020B0604020202020204" pitchFamily="34" charset="0"/>
              </a:rPr>
            </a:b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User inputs natural language query.</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Query undergoes NLP preprocessing (tokenization, stopword removal).</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Text converted into vector embeddings.</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Cosine similarity computed between query and book vectors.</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Top-K relevant books retrieved.</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KNN module generates similar book recommendations.</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Results displayed with explanation panel.</a:t>
            </a:r>
            <a:br>
              <a:rPr lang="en-US" dirty="0"/>
            </a:br>
            <a:endParaRPr dirty="0"/>
          </a:p>
        </p:txBody>
      </p:sp>
      <p:sp>
        <p:nvSpPr>
          <p:cNvPr id="3" name="object 3"/>
          <p:cNvSpPr/>
          <p:nvPr/>
        </p:nvSpPr>
        <p:spPr>
          <a:xfrm>
            <a:off x="89915" y="1309360"/>
            <a:ext cx="73660" cy="0"/>
          </a:xfrm>
          <a:custGeom>
            <a:avLst/>
            <a:gdLst/>
            <a:ahLst/>
            <a:cxnLst/>
            <a:rect l="l" t="t" r="r" b="b"/>
            <a:pathLst>
              <a:path w="73660">
                <a:moveTo>
                  <a:pt x="0" y="0"/>
                </a:moveTo>
                <a:lnTo>
                  <a:pt x="73151" y="0"/>
                </a:lnTo>
              </a:path>
            </a:pathLst>
          </a:custGeom>
          <a:ln w="4317">
            <a:solidFill>
              <a:srgbClr val="E5E7EB"/>
            </a:solidFill>
          </a:ln>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8464" y="717881"/>
            <a:ext cx="10355070" cy="3508375"/>
          </a:xfrm>
        </p:spPr>
        <p:txBody>
          <a:bodyPr/>
          <a:p>
            <a:r>
              <a:rPr lang="en-US" altLang="en-US" sz="3200" b="1">
                <a:latin typeface="Arial" panose="020B0604020202020204" pitchFamily="34" charset="0"/>
                <a:cs typeface="Arial" panose="020B0604020202020204" pitchFamily="34" charset="0"/>
              </a:rPr>
              <a:t>System Overview</a:t>
            </a:r>
            <a:br>
              <a:rPr lang="en-US" altLang="en-US" sz="2800">
                <a:latin typeface="Arial" panose="020B0604020202020204" pitchFamily="34" charset="0"/>
                <a:cs typeface="Arial" panose="020B0604020202020204" pitchFamily="34" charset="0"/>
              </a:rPr>
            </a:b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The system is divided into frontend and backend modules.</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The frontend allows users to search using natural language.</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The backend performs semantic processing and similarity matching.</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Book descriptions are converted into vector form for comparison.</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The modular design allows future AI integration.</a:t>
            </a:r>
            <a:endParaRPr lang="en-US" altLang="en-US" sz="280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8464" y="717881"/>
            <a:ext cx="10355070" cy="3077845"/>
          </a:xfrm>
        </p:spPr>
        <p:txBody>
          <a:bodyPr/>
          <a:p>
            <a:r>
              <a:rPr lang="en-US" altLang="en-US" sz="3200" b="1">
                <a:latin typeface="Arial" panose="020B0604020202020204" pitchFamily="34" charset="0"/>
                <a:cs typeface="Arial" panose="020B0604020202020204" pitchFamily="34" charset="0"/>
              </a:rPr>
              <a:t>Search &amp; Recommendation Logic</a:t>
            </a:r>
            <a:br>
              <a:rPr lang="en-US" altLang="en-US" sz="2800">
                <a:latin typeface="Arial" panose="020B0604020202020204" pitchFamily="34" charset="0"/>
                <a:cs typeface="Arial" panose="020B0604020202020204" pitchFamily="34" charset="0"/>
              </a:rPr>
            </a:b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User query undergoes basic NLP preprocessing.</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The processed query is converted into a vector.</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Cosine similarity is used to rank relevant books.</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Top results are displayed based on semantic closeness.</a:t>
            </a:r>
            <a:br>
              <a:rPr lang="en-US" altLang="en-US" sz="2800">
                <a:latin typeface="Arial" panose="020B0604020202020204" pitchFamily="34" charset="0"/>
                <a:cs typeface="Arial" panose="020B0604020202020204" pitchFamily="34" charset="0"/>
              </a:rPr>
            </a:br>
            <a:r>
              <a:rPr lang="en-US" altLang="en-US" sz="2800">
                <a:latin typeface="Arial" panose="020B0604020202020204" pitchFamily="34" charset="0"/>
                <a:cs typeface="Arial" panose="020B0604020202020204" pitchFamily="34" charset="0"/>
              </a:rPr>
              <a:t>• KNN is used to recommend similar books.</a:t>
            </a:r>
            <a:endParaRPr lang="en-US" altLang="en-US" sz="280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8464" y="717881"/>
            <a:ext cx="10355070" cy="1169035"/>
          </a:xfrm>
        </p:spPr>
        <p:txBody>
          <a:bodyPr/>
          <a:p>
            <a:r>
              <a:rPr lang="en-US" altLang="en-US" sz="3200" b="1">
                <a:latin typeface="Arial" panose="020B0604020202020204" pitchFamily="34" charset="0"/>
                <a:cs typeface="Arial" panose="020B0604020202020204" pitchFamily="34" charset="0"/>
              </a:rPr>
              <a:t>Data Flow Diagram Representing the Methodology Adopted for System</a:t>
            </a:r>
            <a:r>
              <a:rPr lang="en-US" altLang="en-US"/>
              <a:t> </a:t>
            </a:r>
            <a:endParaRPr lang="en-US" altLang="en-US"/>
          </a:p>
        </p:txBody>
      </p:sp>
      <p:pic>
        <p:nvPicPr>
          <p:cNvPr id="4" name="Picture 2" descr="Methodology Diagram  1"/>
          <p:cNvPicPr>
            <a:picLocks noChangeAspect="1"/>
          </p:cNvPicPr>
          <p:nvPr/>
        </p:nvPicPr>
        <p:blipFill>
          <a:blip r:embed="rId1"/>
          <a:stretch>
            <a:fillRect/>
          </a:stretch>
        </p:blipFill>
        <p:spPr>
          <a:xfrm>
            <a:off x="3048000" y="2057400"/>
            <a:ext cx="5368925" cy="45408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18464" y="717881"/>
            <a:ext cx="10355070" cy="553720"/>
          </a:xfrm>
        </p:spPr>
        <p:txBody>
          <a:bodyPr/>
          <a:p>
            <a:pPr algn="ctr"/>
            <a:r>
              <a:rPr lang="en-US" sz="3600">
                <a:latin typeface="Arial" panose="020B0604020202020204" pitchFamily="34" charset="0"/>
                <a:cs typeface="Arial" panose="020B0604020202020204" pitchFamily="34" charset="0"/>
              </a:rPr>
              <a:t>RESULTS</a:t>
            </a:r>
            <a:endParaRPr lang="en-US" sz="3600">
              <a:latin typeface="Arial" panose="020B0604020202020204" pitchFamily="34" charset="0"/>
              <a:cs typeface="Arial" panose="020B0604020202020204" pitchFamily="34" charset="0"/>
            </a:endParaRPr>
          </a:p>
        </p:txBody>
      </p:sp>
      <p:pic>
        <p:nvPicPr>
          <p:cNvPr id="4" name="Picture 3" descr="A screenshot of a computer&#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00" y="1600200"/>
            <a:ext cx="12192000" cy="5223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A screenshot of a computer&#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468755"/>
            <a:ext cx="12192000" cy="4382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918464" y="717881"/>
            <a:ext cx="10355070" cy="3446780"/>
          </a:xfrm>
        </p:spPr>
        <p:txBody>
          <a:bodyPr/>
          <a:p>
            <a:r>
              <a:rPr lang="en-US" altLang="en-US" sz="3200" b="1">
                <a:latin typeface="Arial" panose="020B0604020202020204" pitchFamily="34" charset="0"/>
                <a:cs typeface="Arial" panose="020B0604020202020204" pitchFamily="34" charset="0"/>
              </a:rPr>
              <a:t>Outcomes</a:t>
            </a:r>
            <a:br>
              <a:rPr lang="en-US" altLang="en-US" sz="3200" b="1">
                <a:latin typeface="Arial" panose="020B0604020202020204" pitchFamily="34" charset="0"/>
                <a:cs typeface="Arial" panose="020B0604020202020204" pitchFamily="34" charset="0"/>
              </a:rPr>
            </a:b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Functional AI-based semantic search engine developed.</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Natural language query support implemented.</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Content-based recommendation module integrated.</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Explainable output system designed.</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Tested on multi-genre dataset successfully.</a:t>
            </a:r>
            <a:endParaRPr lang="en-US" altLang="en-US" sz="320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918464" y="717881"/>
            <a:ext cx="10355070" cy="3446780"/>
          </a:xfrm>
        </p:spPr>
        <p:txBody>
          <a:bodyPr/>
          <a:p>
            <a:r>
              <a:rPr lang="en-US" altLang="en-US" sz="3200" b="1">
                <a:latin typeface="Arial" panose="020B0604020202020204" pitchFamily="34" charset="0"/>
                <a:cs typeface="Arial" panose="020B0604020202020204" pitchFamily="34" charset="0"/>
              </a:rPr>
              <a:t>Future Work</a:t>
            </a:r>
            <a:br>
              <a:rPr lang="en-US" altLang="en-US" sz="3200" b="1">
                <a:latin typeface="Arial" panose="020B0604020202020204" pitchFamily="34" charset="0"/>
                <a:cs typeface="Arial" panose="020B0604020202020204" pitchFamily="34" charset="0"/>
              </a:rPr>
            </a:b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Integrate LLM-based query interpretation layer.</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Enable conversational search interface.</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Introduce voice-based search functionality.</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Implement multi-turn context retention.</a:t>
            </a:r>
            <a:br>
              <a:rPr lang="en-US" altLang="en-US" sz="3200">
                <a:latin typeface="Arial" panose="020B0604020202020204" pitchFamily="34" charset="0"/>
                <a:cs typeface="Arial" panose="020B0604020202020204" pitchFamily="34" charset="0"/>
              </a:rPr>
            </a:br>
            <a:r>
              <a:rPr lang="en-US" altLang="en-US" sz="3200">
                <a:latin typeface="Arial" panose="020B0604020202020204" pitchFamily="34" charset="0"/>
                <a:cs typeface="Arial" panose="020B0604020202020204" pitchFamily="34" charset="0"/>
              </a:rPr>
              <a:t>• Explore domain-specific fine-tuning.</a:t>
            </a:r>
            <a:endParaRPr lang="en-US" altLang="en-US" sz="320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464" y="717881"/>
            <a:ext cx="10355070" cy="677108"/>
          </a:xfrm>
          <a:prstGeom prst="rect">
            <a:avLst/>
          </a:prstGeom>
        </p:spPr>
        <p:txBody>
          <a:bodyPr vert="horz" wrap="square" lIns="0" tIns="0" rIns="0" bIns="0" rtlCol="0">
            <a:spAutoFit/>
          </a:bodyPr>
          <a:lstStyle/>
          <a:p>
            <a:pPr marL="12700">
              <a:lnSpc>
                <a:spcPct val="100000"/>
              </a:lnSpc>
            </a:pPr>
            <a:r>
              <a:rPr spc="-70" dirty="0">
                <a:latin typeface="+mn-lt"/>
              </a:rPr>
              <a:t>R</a:t>
            </a:r>
            <a:r>
              <a:rPr spc="-90" dirty="0">
                <a:latin typeface="+mn-lt"/>
              </a:rPr>
              <a:t>efe</a:t>
            </a:r>
            <a:r>
              <a:rPr spc="-80" dirty="0">
                <a:latin typeface="+mn-lt"/>
              </a:rPr>
              <a:t>r</a:t>
            </a:r>
            <a:r>
              <a:rPr spc="-75" dirty="0">
                <a:latin typeface="+mn-lt"/>
              </a:rPr>
              <a:t>e</a:t>
            </a:r>
            <a:r>
              <a:rPr spc="-80" dirty="0">
                <a:latin typeface="+mn-lt"/>
              </a:rPr>
              <a:t>n</a:t>
            </a:r>
            <a:r>
              <a:rPr spc="-70" dirty="0">
                <a:latin typeface="+mn-lt"/>
              </a:rPr>
              <a:t>c</a:t>
            </a:r>
            <a:r>
              <a:rPr spc="-90" dirty="0">
                <a:latin typeface="+mn-lt"/>
              </a:rPr>
              <a:t>e</a:t>
            </a:r>
            <a:r>
              <a:rPr spc="-80" dirty="0">
                <a:latin typeface="+mn-lt"/>
              </a:rPr>
              <a:t>s</a:t>
            </a:r>
            <a:r>
              <a:rPr dirty="0">
                <a:latin typeface="+mn-lt"/>
              </a:rPr>
              <a:t>:</a:t>
            </a:r>
            <a:endParaRPr dirty="0">
              <a:latin typeface="+mn-lt"/>
            </a:endParaRPr>
          </a:p>
        </p:txBody>
      </p:sp>
      <p:sp>
        <p:nvSpPr>
          <p:cNvPr id="3" name="object 3"/>
          <p:cNvSpPr txBox="1"/>
          <p:nvPr/>
        </p:nvSpPr>
        <p:spPr>
          <a:xfrm>
            <a:off x="498199" y="1999883"/>
            <a:ext cx="10795000" cy="1938655"/>
          </a:xfrm>
          <a:prstGeom prst="rect">
            <a:avLst/>
          </a:prstGeom>
          <a:ln w="4317">
            <a:solidFill>
              <a:srgbClr val="E5E7EB"/>
            </a:solidFill>
          </a:ln>
        </p:spPr>
        <p:txBody>
          <a:bodyPr vert="horz" wrap="square" lIns="0" tIns="0" rIns="0" bIns="0" rtlCol="0">
            <a:spAutoFit/>
          </a:bodyPr>
          <a:lstStyle/>
          <a:p>
            <a:pPr marL="17145">
              <a:lnSpc>
                <a:spcPct val="100000"/>
              </a:lnSpc>
            </a:pPr>
            <a:r>
              <a:rPr lang="en-US" altLang="en-US" dirty="0">
                <a:latin typeface="Arial" panose="020B0604020202020204"/>
                <a:cs typeface="Arial" panose="020B0604020202020204"/>
              </a:rPr>
              <a:t>References</a:t>
            </a:r>
            <a:endParaRPr lang="en-US" altLang="en-US" dirty="0">
              <a:latin typeface="Arial" panose="020B0604020202020204"/>
              <a:cs typeface="Arial" panose="020B0604020202020204"/>
            </a:endParaRPr>
          </a:p>
          <a:p>
            <a:pPr marL="17145">
              <a:lnSpc>
                <a:spcPct val="100000"/>
              </a:lnSpc>
            </a:pPr>
            <a:endParaRPr lang="en-US" altLang="en-US" dirty="0">
              <a:latin typeface="Arial" panose="020B0604020202020204"/>
              <a:cs typeface="Arial" panose="020B0604020202020204"/>
            </a:endParaRPr>
          </a:p>
          <a:p>
            <a:pPr marL="17145">
              <a:lnSpc>
                <a:spcPct val="100000"/>
              </a:lnSpc>
            </a:pPr>
            <a:r>
              <a:rPr lang="en-US" altLang="en-US" b="1" dirty="0">
                <a:latin typeface="Arial" panose="020B0604020202020204"/>
                <a:cs typeface="Arial" panose="020B0604020202020204"/>
              </a:rPr>
              <a:t>• </a:t>
            </a:r>
            <a:r>
              <a:rPr lang="en-US" altLang="en-US" b="1" dirty="0">
                <a:latin typeface="Arial" panose="020B0604020202020204"/>
                <a:cs typeface="Arial" panose="020B0604020202020204"/>
              </a:rPr>
              <a:t>Manning &amp; Schütze </a:t>
            </a:r>
            <a:r>
              <a:rPr lang="en-US" altLang="en-US" dirty="0">
                <a:latin typeface="Arial" panose="020B0604020202020204"/>
                <a:cs typeface="Arial" panose="020B0604020202020204"/>
              </a:rPr>
              <a:t>– Foundations of Statistical NLP, MIT Press.</a:t>
            </a:r>
            <a:endParaRPr lang="en-US" altLang="en-US" dirty="0">
              <a:latin typeface="Arial" panose="020B0604020202020204"/>
              <a:cs typeface="Arial" panose="020B0604020202020204"/>
            </a:endParaRPr>
          </a:p>
          <a:p>
            <a:pPr marL="17145">
              <a:lnSpc>
                <a:spcPct val="100000"/>
              </a:lnSpc>
            </a:pPr>
            <a:r>
              <a:rPr lang="en-US" altLang="en-US" b="1" dirty="0">
                <a:latin typeface="Arial" panose="020B0604020202020204"/>
                <a:cs typeface="Arial" panose="020B0604020202020204"/>
              </a:rPr>
              <a:t>• Mikolov et al</a:t>
            </a:r>
            <a:r>
              <a:rPr lang="en-US" altLang="en-US" dirty="0">
                <a:latin typeface="Arial" panose="020B0604020202020204"/>
                <a:cs typeface="Arial" panose="020B0604020202020204"/>
              </a:rPr>
              <a:t>. – Word2Vec, 2013.</a:t>
            </a:r>
            <a:endParaRPr lang="en-US" altLang="en-US" dirty="0">
              <a:latin typeface="Arial" panose="020B0604020202020204"/>
              <a:cs typeface="Arial" panose="020B0604020202020204"/>
            </a:endParaRPr>
          </a:p>
          <a:p>
            <a:pPr marL="17145">
              <a:lnSpc>
                <a:spcPct val="100000"/>
              </a:lnSpc>
            </a:pPr>
            <a:r>
              <a:rPr lang="en-US" altLang="en-US" b="1" dirty="0">
                <a:latin typeface="Arial" panose="020B0604020202020204"/>
                <a:cs typeface="Arial" panose="020B0604020202020204"/>
              </a:rPr>
              <a:t>• </a:t>
            </a:r>
            <a:r>
              <a:rPr lang="en-US" altLang="en-US" b="1" dirty="0">
                <a:latin typeface="Arial" panose="020B0604020202020204"/>
                <a:cs typeface="Arial" panose="020B0604020202020204"/>
              </a:rPr>
              <a:t>Devlin et al.</a:t>
            </a:r>
            <a:r>
              <a:rPr lang="en-US" altLang="en-US" dirty="0">
                <a:latin typeface="Arial" panose="020B0604020202020204"/>
                <a:cs typeface="Arial" panose="020B0604020202020204"/>
              </a:rPr>
              <a:t> – BERT Model, 2018.</a:t>
            </a:r>
            <a:endParaRPr lang="en-US" altLang="en-US" dirty="0">
              <a:latin typeface="Arial" panose="020B0604020202020204"/>
              <a:cs typeface="Arial" panose="020B0604020202020204"/>
            </a:endParaRPr>
          </a:p>
          <a:p>
            <a:pPr marL="17145">
              <a:lnSpc>
                <a:spcPct val="100000"/>
              </a:lnSpc>
            </a:pPr>
            <a:r>
              <a:rPr lang="en-US" altLang="en-US" b="1" dirty="0">
                <a:latin typeface="Arial" panose="020B0604020202020204"/>
                <a:cs typeface="Arial" panose="020B0604020202020204"/>
              </a:rPr>
              <a:t>• </a:t>
            </a:r>
            <a:r>
              <a:rPr lang="en-US" altLang="en-US" b="1" dirty="0">
                <a:latin typeface="Arial" panose="020B0604020202020204"/>
                <a:cs typeface="Arial" panose="020B0604020202020204"/>
              </a:rPr>
              <a:t>Ricci et al</a:t>
            </a:r>
            <a:r>
              <a:rPr lang="en-US" altLang="en-US" dirty="0">
                <a:latin typeface="Arial" panose="020B0604020202020204"/>
                <a:cs typeface="Arial" panose="020B0604020202020204"/>
              </a:rPr>
              <a:t>. – Recommender Systems Handbook.</a:t>
            </a:r>
            <a:endParaRPr lang="en-US" altLang="en-US" dirty="0">
              <a:latin typeface="Arial" panose="020B0604020202020204"/>
              <a:cs typeface="Arial" panose="020B0604020202020204"/>
            </a:endParaRPr>
          </a:p>
          <a:p>
            <a:pPr marL="17145">
              <a:lnSpc>
                <a:spcPct val="100000"/>
              </a:lnSpc>
            </a:pPr>
            <a:r>
              <a:rPr lang="en-US" altLang="en-US" b="1" dirty="0">
                <a:latin typeface="Arial" panose="020B0604020202020204"/>
                <a:cs typeface="Arial" panose="020B0604020202020204"/>
              </a:rPr>
              <a:t>• IEEE Xplore and ACM publications</a:t>
            </a:r>
            <a:r>
              <a:rPr lang="en-US" altLang="en-US" dirty="0">
                <a:latin typeface="Arial" panose="020B0604020202020204"/>
                <a:cs typeface="Arial" panose="020B0604020202020204"/>
              </a:rPr>
              <a:t> - On  Semantic Search.</a:t>
            </a:r>
            <a:endParaRPr lang="en-US" altLang="en-US" dirty="0">
              <a:latin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38600" y="2971800"/>
            <a:ext cx="2399665" cy="584835"/>
          </a:xfrm>
          <a:prstGeom prst="rect">
            <a:avLst/>
          </a:prstGeom>
        </p:spPr>
        <p:txBody>
          <a:bodyPr vert="horz" wrap="square" lIns="0" tIns="0" rIns="0" bIns="0" rtlCol="0">
            <a:spAutoFit/>
          </a:bodyPr>
          <a:lstStyle/>
          <a:p>
            <a:pPr marL="12700">
              <a:lnSpc>
                <a:spcPct val="100000"/>
              </a:lnSpc>
            </a:pPr>
            <a:r>
              <a:rPr sz="4400" spc="-360" dirty="0">
                <a:latin typeface="Trebuchet MS" panose="020B0603020202020204"/>
                <a:cs typeface="Trebuchet MS" panose="020B0603020202020204"/>
              </a:rPr>
              <a:t>Thank</a:t>
            </a:r>
            <a:r>
              <a:rPr sz="4400" spc="240" dirty="0">
                <a:latin typeface="Times New Roman" panose="02020603050405020304"/>
                <a:cs typeface="Times New Roman" panose="02020603050405020304"/>
              </a:rPr>
              <a:t> </a:t>
            </a:r>
            <a:r>
              <a:rPr sz="4400" spc="-30" dirty="0">
                <a:latin typeface="Trebuchet MS" panose="020B0603020202020204"/>
                <a:cs typeface="Trebuchet MS" panose="020B0603020202020204"/>
              </a:rPr>
              <a:t>Y</a:t>
            </a:r>
            <a:r>
              <a:rPr sz="4400" spc="-25" dirty="0">
                <a:latin typeface="Trebuchet MS" panose="020B0603020202020204"/>
                <a:cs typeface="Trebuchet MS" panose="020B0603020202020204"/>
              </a:rPr>
              <a:t>o</a:t>
            </a:r>
            <a:r>
              <a:rPr sz="4400" dirty="0">
                <a:latin typeface="Trebuchet MS" panose="020B0603020202020204"/>
                <a:cs typeface="Trebuchet MS" panose="020B0603020202020204"/>
              </a:rPr>
              <a:t>u</a:t>
            </a:r>
            <a:endParaRPr sz="4400" dirty="0">
              <a:latin typeface="Trebuchet MS" panose="020B0603020202020204"/>
              <a:cs typeface="Trebuchet MS" panose="020B0603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4664</Words>
  <Application>WPS Presentation</Application>
  <PresentationFormat>Widescreen</PresentationFormat>
  <Paragraphs>109</Paragraphs>
  <Slides>17</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Trebuchet MS</vt:lpstr>
      <vt:lpstr>Times New Roman</vt:lpstr>
      <vt:lpstr>Arial</vt:lpstr>
      <vt:lpstr>Calibri</vt:lpstr>
      <vt:lpstr>Microsoft YaHei</vt:lpstr>
      <vt:lpstr>Arial Unicode MS</vt:lpstr>
      <vt:lpstr>Office Theme</vt:lpstr>
      <vt:lpstr>PowerPoint 演示文稿</vt:lpstr>
      <vt:lpstr>Outline</vt:lpstr>
      <vt:lpstr>Introduction:</vt:lpstr>
      <vt:lpstr>Literature Review:</vt:lpstr>
      <vt:lpstr>PowerPoint 演示文稿</vt:lpstr>
      <vt:lpstr>Problem Statement Existing library systems rely heavily on exact keyword matching and fail to understand natural language queries. This often leads to irrelevant results and poor user experience. Therefore, there is a need for an AI-based system that enables semantic search and intelligent book recommendations. </vt:lpstr>
      <vt:lpstr>Objectives  • Interpret natural language queries using NLP techniques. • Implement semantic similarity using vector representations. • Rank search results using cosine similarity. • Provide intelligent recommendations using KNN. • Enable genre-based discovery. • Maintain modular and scalable architecture.</vt:lpstr>
      <vt:lpstr>Proposed Methodology  • User inputs natural language query. • Query undergoes NLP preprocessing (tokenization, stopword removal). • Text converted into vector embeddings. • Cosine similarity computed between query and book vectors. • Top-K relevant books retrieved. • KNN module generates similar book recommendations. • Results displayed with explanation panel. </vt:lpstr>
      <vt:lpstr>System Overview  • The system is divided into frontend and backend modules. • The frontend allows users to search using natural language. • The backend performs semantic processing and similarity matching. • Book descriptions are converted into vector form for comparison. • The modular design allows future AI integration.</vt:lpstr>
      <vt:lpstr>Search &amp; Recommendation Logic  • User query undergoes basic NLP preprocessing. • The processed query is converted into a vector. • Cosine similarity is used to rank relevant books. • Top results are displayed based on semantic closeness. • KNN is used to recommend similar books.</vt:lpstr>
      <vt:lpstr>Data Flow Diagram Representing the Methodology Adopted for System </vt:lpstr>
      <vt:lpstr>RESULTS</vt:lpstr>
      <vt:lpstr>PowerPoint 演示文稿</vt:lpstr>
      <vt:lpstr>Outcomes  • Functional AI-based semantic search engine developed. • Natural language query support implemented. • Content-based recommendation module integrated. • Explainable output system designed. • Tested on multi-genre dataset successfully.</vt:lpstr>
      <vt:lpstr>Future Work  • Integrate LLM-based query interpretation layer. • Enable conversational search interface. • Introduce voice-based search functionality. • Implement multi-turn context retention. • Explore domain-specific fine-tuning.</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Online2PDF.com</dc:creator>
  <cp:lastModifiedBy>Anant Goel</cp:lastModifiedBy>
  <cp:revision>10</cp:revision>
  <dcterms:created xsi:type="dcterms:W3CDTF">2025-10-11T15:43:00Z</dcterms:created>
  <dcterms:modified xsi:type="dcterms:W3CDTF">2026-02-14T18:45:04Z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2025-10-11T11:00:00Z</vt:filetime>
  </property>
  <property fmtid="{D5CDD505-2E9C-101B-9397-08002B2CF9AE}" pid="3" name="LastSaved">
    <vt:filetime>2025-10-11T11:00:00Z</vt:filetime>
  </property>
  <property fmtid="{D5CDD505-2E9C-101B-9397-08002B2CF9AE}" pid="4" name="ICV">
    <vt:lpwstr>6E93493DFCA046AAB5DBCB6370529012_13</vt:lpwstr>
  </property>
  <property fmtid="{D5CDD505-2E9C-101B-9397-08002B2CF9AE}" pid="5" name="KSOProductBuildVer">
    <vt:lpwstr>1033-12.2.0.23196</vt:lpwstr>
  </property>
</Properties>
</file>